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Inter Bold" charset="1" panose="02000503000000020004"/>
      <p:regular r:id="rId12"/>
    </p:embeddedFont>
    <p:embeddedFont>
      <p:font typeface="Proxima Nova Bold" charset="1" panose="02000506030000020004"/>
      <p:regular r:id="rId13"/>
    </p:embeddedFont>
    <p:embeddedFont>
      <p:font typeface="Inter" charset="1" panose="02000503000000020004"/>
      <p:regular r:id="rId14"/>
    </p:embeddedFont>
    <p:embeddedFont>
      <p:font typeface="Poppins Bold" charset="1" panose="00000800000000000000"/>
      <p:regular r:id="rId15"/>
    </p:embeddedFont>
    <p:embeddedFont>
      <p:font typeface="Nunito Bold" charset="1" panose="00000000000000000000"/>
      <p:regular r:id="rId16"/>
    </p:embeddedFont>
    <p:embeddedFont>
      <p:font typeface="Nunito" charset="1" panose="00000000000000000000"/>
      <p:regular r:id="rId17"/>
    </p:embeddedFont>
    <p:embeddedFont>
      <p:font typeface="Open Sans Bold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png" Type="http://schemas.openxmlformats.org/officeDocument/2006/relationships/image"/><Relationship Id="rId12" Target="../media/image12.png" Type="http://schemas.openxmlformats.org/officeDocument/2006/relationships/image"/><Relationship Id="rId13" Target="../media/image13.png" Type="http://schemas.openxmlformats.org/officeDocument/2006/relationships/image"/><Relationship Id="rId14" Target="../media/image14.png" Type="http://schemas.openxmlformats.org/officeDocument/2006/relationships/image"/><Relationship Id="rId2" Target="../media/image15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png" Type="http://schemas.openxmlformats.org/officeDocument/2006/relationships/image"/><Relationship Id="rId12" Target="../media/image13.png" Type="http://schemas.openxmlformats.org/officeDocument/2006/relationships/image"/><Relationship Id="rId13" Target="../media/image14.png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png" Type="http://schemas.openxmlformats.org/officeDocument/2006/relationships/image"/><Relationship Id="rId11" Target="../media/image7.png" Type="http://schemas.openxmlformats.org/officeDocument/2006/relationships/image"/><Relationship Id="rId12" Target="../media/image8.png" Type="http://schemas.openxmlformats.org/officeDocument/2006/relationships/image"/><Relationship Id="rId13" Target="../media/image9.png" Type="http://schemas.openxmlformats.org/officeDocument/2006/relationships/image"/><Relationship Id="rId14" Target="../media/image10.png" Type="http://schemas.openxmlformats.org/officeDocument/2006/relationships/image"/><Relationship Id="rId15" Target="../media/image11.png" Type="http://schemas.openxmlformats.org/officeDocument/2006/relationships/image"/><Relationship Id="rId16" Target="../media/image12.png" Type="http://schemas.openxmlformats.org/officeDocument/2006/relationships/image"/><Relationship Id="rId17" Target="../media/image13.png" Type="http://schemas.openxmlformats.org/officeDocument/2006/relationships/image"/><Relationship Id="rId18" Target="../media/image14.png" Type="http://schemas.openxmlformats.org/officeDocument/2006/relationships/image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3.png" Type="http://schemas.openxmlformats.org/officeDocument/2006/relationships/image"/><Relationship Id="rId8" Target="../media/image4.png" Type="http://schemas.openxmlformats.org/officeDocument/2006/relationships/image"/><Relationship Id="rId9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png" Type="http://schemas.openxmlformats.org/officeDocument/2006/relationships/image"/><Relationship Id="rId11" Target="../media/image7.png" Type="http://schemas.openxmlformats.org/officeDocument/2006/relationships/image"/><Relationship Id="rId12" Target="../media/image8.png" Type="http://schemas.openxmlformats.org/officeDocument/2006/relationships/image"/><Relationship Id="rId13" Target="../media/image9.png" Type="http://schemas.openxmlformats.org/officeDocument/2006/relationships/image"/><Relationship Id="rId14" Target="../media/image10.png" Type="http://schemas.openxmlformats.org/officeDocument/2006/relationships/image"/><Relationship Id="rId15" Target="../media/image11.png" Type="http://schemas.openxmlformats.org/officeDocument/2006/relationships/image"/><Relationship Id="rId16" Target="../media/image12.png" Type="http://schemas.openxmlformats.org/officeDocument/2006/relationships/image"/><Relationship Id="rId17" Target="../media/image13.png" Type="http://schemas.openxmlformats.org/officeDocument/2006/relationships/image"/><Relationship Id="rId18" Target="../media/image14.png" Type="http://schemas.openxmlformats.org/officeDocument/2006/relationships/image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3.png" Type="http://schemas.openxmlformats.org/officeDocument/2006/relationships/image"/><Relationship Id="rId8" Target="../media/image4.png" Type="http://schemas.openxmlformats.org/officeDocument/2006/relationships/image"/><Relationship Id="rId9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EF4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3000" y="6335754"/>
            <a:ext cx="5872162" cy="742950"/>
            <a:chOff x="0" y="0"/>
            <a:chExt cx="7829550" cy="990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829550" cy="990600"/>
            </a:xfrm>
            <a:custGeom>
              <a:avLst/>
              <a:gdLst/>
              <a:ahLst/>
              <a:cxnLst/>
              <a:rect r="r" b="b" t="t" l="l"/>
              <a:pathLst>
                <a:path h="990600" w="782955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7677150" y="0"/>
                  </a:lnTo>
                  <a:cubicBezTo>
                    <a:pt x="7761351" y="0"/>
                    <a:pt x="7829550" y="68199"/>
                    <a:pt x="7829550" y="152400"/>
                  </a:cubicBezTo>
                  <a:lnTo>
                    <a:pt x="7829550" y="838200"/>
                  </a:lnTo>
                  <a:cubicBezTo>
                    <a:pt x="7829550" y="922401"/>
                    <a:pt x="7761351" y="990600"/>
                    <a:pt x="7677150" y="990600"/>
                  </a:cubicBezTo>
                  <a:lnTo>
                    <a:pt x="152400" y="990600"/>
                  </a:lnTo>
                  <a:cubicBezTo>
                    <a:pt x="68199" y="990600"/>
                    <a:pt x="0" y="922401"/>
                    <a:pt x="0" y="838200"/>
                  </a:cubicBezTo>
                  <a:close/>
                </a:path>
              </a:pathLst>
            </a:custGeom>
            <a:solidFill>
              <a:srgbClr val="0B5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85900" y="6564354"/>
            <a:ext cx="257175" cy="285750"/>
            <a:chOff x="0" y="0"/>
            <a:chExt cx="342900" cy="3810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342900" cy="381000"/>
            </a:xfrm>
            <a:custGeom>
              <a:avLst/>
              <a:gdLst/>
              <a:ahLst/>
              <a:cxnLst/>
              <a:rect r="r" b="b" t="t" l="l"/>
              <a:pathLst>
                <a:path h="3810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500" r="0" b="-250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43000" y="1986773"/>
            <a:ext cx="171450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B5FFF"/>
                </a:solidFill>
                <a:latin typeface="Inter Bold"/>
                <a:ea typeface="Inter Bold"/>
                <a:cs typeface="Inter Bold"/>
                <a:sym typeface="Inter Bold"/>
              </a:rPr>
              <a:t>CAREERS AT VINFAST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3000" y="2567798"/>
            <a:ext cx="17145000" cy="939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7200" b="true">
                <a:solidFill>
                  <a:srgbClr val="0A1F4D"/>
                </a:solidFill>
                <a:latin typeface="Inter Bold"/>
                <a:ea typeface="Inter Bold"/>
                <a:cs typeface="Inter Bold"/>
                <a:sym typeface="Inter Bold"/>
              </a:rPr>
              <a:t>Open Positions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3000" y="3849729"/>
            <a:ext cx="8929688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A1F4D"/>
                </a:solidFill>
                <a:latin typeface="Inter Bold"/>
                <a:ea typeface="Inter Bold"/>
                <a:cs typeface="Inter Bold"/>
                <a:sym typeface="Inter Bold"/>
              </a:rPr>
              <a:t>Build the future of digital retail with us.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677240" y="2206615"/>
            <a:ext cx="8661492" cy="4872090"/>
            <a:chOff x="0" y="0"/>
            <a:chExt cx="24384000" cy="13716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4" r="0" b="-44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412430" y="160726"/>
            <a:ext cx="1263780" cy="1001176"/>
          </a:xfrm>
          <a:custGeom>
            <a:avLst/>
            <a:gdLst/>
            <a:ahLst/>
            <a:cxnLst/>
            <a:rect r="r" b="b" t="t" l="l"/>
            <a:pathLst>
              <a:path h="1001176" w="1263780">
                <a:moveTo>
                  <a:pt x="0" y="0"/>
                </a:moveTo>
                <a:lnTo>
                  <a:pt x="1263780" y="0"/>
                </a:lnTo>
                <a:lnTo>
                  <a:pt x="1263780" y="1001176"/>
                </a:lnTo>
                <a:lnTo>
                  <a:pt x="0" y="10011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6326405" y="206762"/>
            <a:ext cx="1647197" cy="1065833"/>
            <a:chOff x="0" y="0"/>
            <a:chExt cx="2196263" cy="14211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6263" cy="1421111"/>
            </a:xfrm>
            <a:custGeom>
              <a:avLst/>
              <a:gdLst/>
              <a:ahLst/>
              <a:cxnLst/>
              <a:rect r="r" b="b" t="t" l="l"/>
              <a:pathLst>
                <a:path h="1421111" w="2196263">
                  <a:moveTo>
                    <a:pt x="0" y="0"/>
                  </a:moveTo>
                  <a:lnTo>
                    <a:pt x="2196263" y="0"/>
                  </a:lnTo>
                  <a:lnTo>
                    <a:pt x="2196263" y="1421111"/>
                  </a:lnTo>
                  <a:lnTo>
                    <a:pt x="0" y="14211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225008" y="518309"/>
              <a:ext cx="1933154" cy="3977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4"/>
                </a:lnSpc>
              </a:pPr>
              <a:r>
                <a:rPr lang="en-US" sz="1941" spc="-18" b="true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APPLY NOW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143000" y="4425992"/>
            <a:ext cx="7000875" cy="1223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Four roles across web development, merchandising, data and customer experience. Ho Chi Minh City / Remote.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914525" y="6564354"/>
            <a:ext cx="594717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Applications close Friday, 30 October 2026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73270" y="374127"/>
            <a:ext cx="1829526" cy="385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1"/>
              </a:lnSpc>
            </a:pPr>
            <a:r>
              <a:rPr lang="en-US" b="true" sz="2165" spc="649">
                <a:solidFill>
                  <a:srgbClr val="0B274B"/>
                </a:solidFill>
                <a:latin typeface="Poppins Bold"/>
                <a:ea typeface="Poppins Bold"/>
                <a:cs typeface="Poppins Bold"/>
                <a:sym typeface="Poppins Bold"/>
              </a:rPr>
              <a:t>VINFAST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816707" y="464597"/>
            <a:ext cx="860532" cy="386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</a:pPr>
            <a:r>
              <a:rPr lang="en-US" b="true" sz="2349" spc="-47">
                <a:solidFill>
                  <a:srgbClr val="0B274B"/>
                </a:solidFill>
                <a:latin typeface="Nunito Bold"/>
                <a:ea typeface="Nunito Bold"/>
                <a:cs typeface="Nunito Bold"/>
                <a:sym typeface="Nunito Bold"/>
              </a:rPr>
              <a:t>Home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83235" y="464597"/>
            <a:ext cx="620414" cy="386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</a:pPr>
            <a:r>
              <a:rPr lang="en-US" b="true" sz="2349" spc="-47">
                <a:solidFill>
                  <a:srgbClr val="0B5FFF"/>
                </a:solidFill>
                <a:latin typeface="Nunito Bold"/>
                <a:ea typeface="Nunito Bold"/>
                <a:cs typeface="Nunito Bold"/>
                <a:sym typeface="Nunito Bold"/>
              </a:rPr>
              <a:t>Jobs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968294" y="464597"/>
            <a:ext cx="860840" cy="386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</a:pPr>
            <a:r>
              <a:rPr lang="en-US" sz="2349" spc="-47" b="true">
                <a:solidFill>
                  <a:srgbClr val="0B274B"/>
                </a:solidFill>
                <a:latin typeface="Nunito Bold"/>
                <a:ea typeface="Nunito Bold"/>
                <a:cs typeface="Nunito Bold"/>
                <a:sym typeface="Nunito Bold"/>
              </a:rPr>
              <a:t>Apply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132120" y="464597"/>
            <a:ext cx="890935" cy="386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</a:pPr>
            <a:r>
              <a:rPr lang="en-US" sz="2349" spc="-47" b="true">
                <a:solidFill>
                  <a:srgbClr val="0B274B"/>
                </a:solidFill>
                <a:latin typeface="Nunito Bold"/>
                <a:ea typeface="Nunito Bold"/>
                <a:cs typeface="Nunito Bold"/>
                <a:sym typeface="Nunito Bold"/>
              </a:rPr>
              <a:t>About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0" y="7845232"/>
            <a:ext cx="18288000" cy="2441768"/>
          </a:xfrm>
          <a:custGeom>
            <a:avLst/>
            <a:gdLst/>
            <a:ahLst/>
            <a:cxnLst/>
            <a:rect r="r" b="b" t="t" l="l"/>
            <a:pathLst>
              <a:path h="2441768" w="18288000">
                <a:moveTo>
                  <a:pt x="0" y="0"/>
                </a:moveTo>
                <a:lnTo>
                  <a:pt x="18288000" y="0"/>
                </a:lnTo>
                <a:lnTo>
                  <a:pt x="18288000" y="2441768"/>
                </a:lnTo>
                <a:lnTo>
                  <a:pt x="0" y="24417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44066" y="8148348"/>
            <a:ext cx="1077746" cy="926188"/>
          </a:xfrm>
          <a:custGeom>
            <a:avLst/>
            <a:gdLst/>
            <a:ahLst/>
            <a:cxnLst/>
            <a:rect r="r" b="b" t="t" l="l"/>
            <a:pathLst>
              <a:path h="926188" w="1077746">
                <a:moveTo>
                  <a:pt x="0" y="0"/>
                </a:moveTo>
                <a:lnTo>
                  <a:pt x="1077746" y="0"/>
                </a:lnTo>
                <a:lnTo>
                  <a:pt x="1077746" y="926188"/>
                </a:lnTo>
                <a:lnTo>
                  <a:pt x="0" y="9261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5978122" y="8148348"/>
            <a:ext cx="353635" cy="1532420"/>
          </a:xfrm>
          <a:custGeom>
            <a:avLst/>
            <a:gdLst/>
            <a:ahLst/>
            <a:cxnLst/>
            <a:rect r="r" b="b" t="t" l="l"/>
            <a:pathLst>
              <a:path h="1532420" w="353635">
                <a:moveTo>
                  <a:pt x="0" y="0"/>
                </a:moveTo>
                <a:lnTo>
                  <a:pt x="353635" y="0"/>
                </a:lnTo>
                <a:lnTo>
                  <a:pt x="353635" y="1532420"/>
                </a:lnTo>
                <a:lnTo>
                  <a:pt x="0" y="153242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2293039" y="8148348"/>
            <a:ext cx="370475" cy="1532420"/>
          </a:xfrm>
          <a:custGeom>
            <a:avLst/>
            <a:gdLst/>
            <a:ahLst/>
            <a:cxnLst/>
            <a:rect r="r" b="b" t="t" l="l"/>
            <a:pathLst>
              <a:path h="1532420" w="370475">
                <a:moveTo>
                  <a:pt x="0" y="0"/>
                </a:moveTo>
                <a:lnTo>
                  <a:pt x="370475" y="0"/>
                </a:lnTo>
                <a:lnTo>
                  <a:pt x="370475" y="1532420"/>
                </a:lnTo>
                <a:lnTo>
                  <a:pt x="0" y="153242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668552" y="8451464"/>
            <a:ext cx="724110" cy="319956"/>
          </a:xfrm>
          <a:custGeom>
            <a:avLst/>
            <a:gdLst/>
            <a:ahLst/>
            <a:cxnLst/>
            <a:rect r="r" b="b" t="t" l="l"/>
            <a:pathLst>
              <a:path h="319956" w="724110">
                <a:moveTo>
                  <a:pt x="0" y="0"/>
                </a:moveTo>
                <a:lnTo>
                  <a:pt x="724111" y="0"/>
                </a:lnTo>
                <a:lnTo>
                  <a:pt x="724111" y="319956"/>
                </a:lnTo>
                <a:lnTo>
                  <a:pt x="0" y="31995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7385067" y="8482353"/>
            <a:ext cx="871418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-3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Jira Project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8083094" y="8451464"/>
            <a:ext cx="724110" cy="319956"/>
          </a:xfrm>
          <a:custGeom>
            <a:avLst/>
            <a:gdLst/>
            <a:ahLst/>
            <a:cxnLst/>
            <a:rect r="r" b="b" t="t" l="l"/>
            <a:pathLst>
              <a:path h="319956" w="724110">
                <a:moveTo>
                  <a:pt x="0" y="0"/>
                </a:moveTo>
                <a:lnTo>
                  <a:pt x="724110" y="0"/>
                </a:lnTo>
                <a:lnTo>
                  <a:pt x="724110" y="319956"/>
                </a:lnTo>
                <a:lnTo>
                  <a:pt x="0" y="31995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6668552" y="8754580"/>
            <a:ext cx="724110" cy="623072"/>
          </a:xfrm>
          <a:custGeom>
            <a:avLst/>
            <a:gdLst/>
            <a:ahLst/>
            <a:cxnLst/>
            <a:rect r="r" b="b" t="t" l="l"/>
            <a:pathLst>
              <a:path h="623072" w="724110">
                <a:moveTo>
                  <a:pt x="0" y="0"/>
                </a:moveTo>
                <a:lnTo>
                  <a:pt x="724111" y="0"/>
                </a:lnTo>
                <a:lnTo>
                  <a:pt x="724111" y="623072"/>
                </a:lnTo>
                <a:lnTo>
                  <a:pt x="0" y="62307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7378569" y="8803821"/>
            <a:ext cx="1521244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-3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GitHub Repository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8790365" y="8754580"/>
            <a:ext cx="353635" cy="319956"/>
          </a:xfrm>
          <a:custGeom>
            <a:avLst/>
            <a:gdLst/>
            <a:ahLst/>
            <a:cxnLst/>
            <a:rect r="r" b="b" t="t" l="l"/>
            <a:pathLst>
              <a:path h="319956" w="353635">
                <a:moveTo>
                  <a:pt x="0" y="0"/>
                </a:moveTo>
                <a:lnTo>
                  <a:pt x="353635" y="0"/>
                </a:lnTo>
                <a:lnTo>
                  <a:pt x="353635" y="319956"/>
                </a:lnTo>
                <a:lnTo>
                  <a:pt x="0" y="31995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6668552" y="9057696"/>
            <a:ext cx="724110" cy="319956"/>
          </a:xfrm>
          <a:custGeom>
            <a:avLst/>
            <a:gdLst/>
            <a:ahLst/>
            <a:cxnLst/>
            <a:rect r="r" b="b" t="t" l="l"/>
            <a:pathLst>
              <a:path h="319956" w="724110">
                <a:moveTo>
                  <a:pt x="0" y="0"/>
                </a:moveTo>
                <a:lnTo>
                  <a:pt x="724111" y="0"/>
                </a:lnTo>
                <a:lnTo>
                  <a:pt x="724111" y="319956"/>
                </a:lnTo>
                <a:lnTo>
                  <a:pt x="0" y="31995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2235925" y="8349853"/>
            <a:ext cx="1435659" cy="283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3"/>
              </a:lnSpc>
            </a:pPr>
            <a:r>
              <a:rPr lang="en-US" b="true" sz="1781" spc="445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VINFAST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230592" y="8660946"/>
            <a:ext cx="1968889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-3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Move Forward Together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9101328" y="901127"/>
            <a:ext cx="2384229" cy="521550"/>
          </a:xfrm>
          <a:custGeom>
            <a:avLst/>
            <a:gdLst/>
            <a:ahLst/>
            <a:cxnLst/>
            <a:rect r="r" b="b" t="t" l="l"/>
            <a:pathLst>
              <a:path h="521550" w="2384229">
                <a:moveTo>
                  <a:pt x="0" y="0"/>
                </a:moveTo>
                <a:lnTo>
                  <a:pt x="2384229" y="0"/>
                </a:lnTo>
                <a:lnTo>
                  <a:pt x="2384229" y="521550"/>
                </a:lnTo>
                <a:lnTo>
                  <a:pt x="0" y="5215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52146" y="2240589"/>
            <a:ext cx="8686800" cy="4114800"/>
            <a:chOff x="0" y="0"/>
            <a:chExt cx="11582400" cy="548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582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115824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11353800" y="0"/>
                  </a:lnTo>
                  <a:cubicBezTo>
                    <a:pt x="11480038" y="0"/>
                    <a:pt x="11582400" y="102362"/>
                    <a:pt x="11582400" y="228600"/>
                  </a:cubicBezTo>
                  <a:lnTo>
                    <a:pt x="11582400" y="5257800"/>
                  </a:lnTo>
                  <a:cubicBezTo>
                    <a:pt x="11582400" y="5384038"/>
                    <a:pt x="11480038" y="5486400"/>
                    <a:pt x="11353800" y="5486400"/>
                  </a:cubicBezTo>
                  <a:lnTo>
                    <a:pt x="228600" y="5486400"/>
                  </a:lnTo>
                  <a:cubicBezTo>
                    <a:pt x="102362" y="5486400"/>
                    <a:pt x="0" y="5384038"/>
                    <a:pt x="0" y="52578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237946" y="2983539"/>
            <a:ext cx="257175" cy="285750"/>
            <a:chOff x="0" y="0"/>
            <a:chExt cx="342900" cy="381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342900" cy="381000"/>
            </a:xfrm>
            <a:custGeom>
              <a:avLst/>
              <a:gdLst/>
              <a:ahLst/>
              <a:cxnLst/>
              <a:rect r="r" b="b" t="t" l="l"/>
              <a:pathLst>
                <a:path h="3810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237946" y="3669339"/>
            <a:ext cx="257175" cy="285750"/>
            <a:chOff x="0" y="0"/>
            <a:chExt cx="342900" cy="3810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342900" cy="381000"/>
            </a:xfrm>
            <a:custGeom>
              <a:avLst/>
              <a:gdLst/>
              <a:ahLst/>
              <a:cxnLst/>
              <a:rect r="r" b="b" t="t" l="l"/>
              <a:pathLst>
                <a:path h="3810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237946" y="4698039"/>
            <a:ext cx="257175" cy="285750"/>
            <a:chOff x="0" y="0"/>
            <a:chExt cx="342900" cy="3810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342900" cy="381000"/>
            </a:xfrm>
            <a:custGeom>
              <a:avLst/>
              <a:gdLst/>
              <a:ahLst/>
              <a:cxnLst/>
              <a:rect r="r" b="b" t="t" l="l"/>
              <a:pathLst>
                <a:path h="3810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237946" y="5383839"/>
            <a:ext cx="257175" cy="285750"/>
            <a:chOff x="0" y="0"/>
            <a:chExt cx="342900" cy="3810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342900" cy="381000"/>
            </a:xfrm>
            <a:custGeom>
              <a:avLst/>
              <a:gdLst/>
              <a:ahLst/>
              <a:cxnLst/>
              <a:rect r="r" b="b" t="t" l="l"/>
              <a:pathLst>
                <a:path h="3810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36946" y="2683501"/>
            <a:ext cx="1096208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B5FFF"/>
                </a:solidFill>
                <a:latin typeface="Inter Bold"/>
                <a:ea typeface="Inter Bold"/>
                <a:cs typeface="Inter Bold"/>
                <a:sym typeface="Inter Bold"/>
              </a:rPr>
              <a:t>VF001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36946" y="3360824"/>
            <a:ext cx="6870859" cy="1451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8"/>
              </a:lnSpc>
            </a:pPr>
            <a:r>
              <a:rPr lang="en-US" sz="5400" b="true">
                <a:solidFill>
                  <a:srgbClr val="0A1F4D"/>
                </a:solidFill>
                <a:latin typeface="Inter Bold"/>
                <a:ea typeface="Inter Bold"/>
                <a:cs typeface="Inter Bold"/>
                <a:sym typeface="Inter Bold"/>
              </a:rPr>
              <a:t>Software &amp; Web Development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6946" y="5145714"/>
            <a:ext cx="800100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333333"/>
                </a:solidFill>
                <a:latin typeface="Inter Bold"/>
                <a:ea typeface="Inter Bold"/>
                <a:cs typeface="Inter Bold"/>
                <a:sym typeface="Inter Bold"/>
              </a:rPr>
              <a:t>E-Commerce Front-End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36946" y="5602914"/>
            <a:ext cx="800100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30M–45M VND / month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23721" y="2916864"/>
            <a:ext cx="671512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A1F4D"/>
                </a:solidFill>
                <a:latin typeface="Inter Bold"/>
                <a:ea typeface="Inter Bold"/>
                <a:cs typeface="Inter Bold"/>
                <a:sym typeface="Inter Bold"/>
              </a:rPr>
              <a:t>Prototyping:</a:t>
            </a:r>
            <a:r>
              <a:rPr lang="en-US" sz="2250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 Create Figma wireframes.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23721" y="3602664"/>
            <a:ext cx="697230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A1F4D"/>
                </a:solidFill>
                <a:latin typeface="Inter Bold"/>
                <a:ea typeface="Inter Bold"/>
                <a:cs typeface="Inter Bold"/>
                <a:sym typeface="Inter Bold"/>
              </a:rPr>
              <a:t>Development:</a:t>
            </a:r>
            <a:r>
              <a:rPr lang="en-US" sz="2250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 Build responsive HTML5/CSS3/JS interfaces.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23721" y="4631364"/>
            <a:ext cx="700087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A1F4D"/>
                </a:solidFill>
                <a:latin typeface="Inter Bold"/>
                <a:ea typeface="Inter Bold"/>
                <a:cs typeface="Inter Bold"/>
                <a:sym typeface="Inter Bold"/>
              </a:rPr>
              <a:t>Standards:</a:t>
            </a:r>
            <a:r>
              <a:rPr lang="en-US" sz="2250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 Maintain WCAG accessibility.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23721" y="5317164"/>
            <a:ext cx="7911703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A1F4D"/>
                </a:solidFill>
                <a:latin typeface="Inter Bold"/>
                <a:ea typeface="Inter Bold"/>
                <a:cs typeface="Inter Bold"/>
                <a:sym typeface="Inter Bold"/>
              </a:rPr>
              <a:t>Integration:</a:t>
            </a:r>
            <a:r>
              <a:rPr lang="en-US" sz="2250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 Connect order and payment APIs.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412430" y="160726"/>
            <a:ext cx="1263780" cy="1001176"/>
          </a:xfrm>
          <a:custGeom>
            <a:avLst/>
            <a:gdLst/>
            <a:ahLst/>
            <a:cxnLst/>
            <a:rect r="r" b="b" t="t" l="l"/>
            <a:pathLst>
              <a:path h="1001176" w="1263780">
                <a:moveTo>
                  <a:pt x="0" y="0"/>
                </a:moveTo>
                <a:lnTo>
                  <a:pt x="1263780" y="0"/>
                </a:lnTo>
                <a:lnTo>
                  <a:pt x="1263780" y="1001176"/>
                </a:lnTo>
                <a:lnTo>
                  <a:pt x="0" y="10011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6326405" y="206762"/>
            <a:ext cx="1647197" cy="1065833"/>
            <a:chOff x="0" y="0"/>
            <a:chExt cx="2196263" cy="142111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6263" cy="1421111"/>
            </a:xfrm>
            <a:custGeom>
              <a:avLst/>
              <a:gdLst/>
              <a:ahLst/>
              <a:cxnLst/>
              <a:rect r="r" b="b" t="t" l="l"/>
              <a:pathLst>
                <a:path h="1421111" w="2196263">
                  <a:moveTo>
                    <a:pt x="0" y="0"/>
                  </a:moveTo>
                  <a:lnTo>
                    <a:pt x="2196263" y="0"/>
                  </a:lnTo>
                  <a:lnTo>
                    <a:pt x="2196263" y="1421111"/>
                  </a:lnTo>
                  <a:lnTo>
                    <a:pt x="0" y="14211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225008" y="518309"/>
              <a:ext cx="1933154" cy="3977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4"/>
                </a:lnSpc>
              </a:pPr>
              <a:r>
                <a:rPr lang="en-US" sz="1941" spc="-18" b="true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APPLY NOW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673270" y="374127"/>
            <a:ext cx="1829526" cy="385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1"/>
              </a:lnSpc>
            </a:pPr>
            <a:r>
              <a:rPr lang="en-US" b="true" sz="2165" spc="649">
                <a:solidFill>
                  <a:srgbClr val="0B274B"/>
                </a:solidFill>
                <a:latin typeface="Poppins Bold"/>
                <a:ea typeface="Poppins Bold"/>
                <a:cs typeface="Poppins Bold"/>
                <a:sym typeface="Poppins Bold"/>
              </a:rPr>
              <a:t>VINFAST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816707" y="464597"/>
            <a:ext cx="860532" cy="386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</a:pPr>
            <a:r>
              <a:rPr lang="en-US" b="true" sz="2349" spc="-47">
                <a:solidFill>
                  <a:srgbClr val="0B274B"/>
                </a:solidFill>
                <a:latin typeface="Nunito Bold"/>
                <a:ea typeface="Nunito Bold"/>
                <a:cs typeface="Nunito Bold"/>
                <a:sym typeface="Nunito Bold"/>
              </a:rPr>
              <a:t>Home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83235" y="464597"/>
            <a:ext cx="620414" cy="386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</a:pPr>
            <a:r>
              <a:rPr lang="en-US" b="true" sz="2349" spc="-47">
                <a:solidFill>
                  <a:srgbClr val="0B5FFF"/>
                </a:solidFill>
                <a:latin typeface="Nunito Bold"/>
                <a:ea typeface="Nunito Bold"/>
                <a:cs typeface="Nunito Bold"/>
                <a:sym typeface="Nunito Bold"/>
              </a:rPr>
              <a:t>Jobs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968294" y="464597"/>
            <a:ext cx="860840" cy="386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</a:pPr>
            <a:r>
              <a:rPr lang="en-US" sz="2349" spc="-47" b="true">
                <a:solidFill>
                  <a:srgbClr val="0B274B"/>
                </a:solidFill>
                <a:latin typeface="Nunito Bold"/>
                <a:ea typeface="Nunito Bold"/>
                <a:cs typeface="Nunito Bold"/>
                <a:sym typeface="Nunito Bold"/>
              </a:rPr>
              <a:t>Apply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132120" y="464597"/>
            <a:ext cx="890935" cy="386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</a:pPr>
            <a:r>
              <a:rPr lang="en-US" sz="2349" spc="-47" b="true">
                <a:solidFill>
                  <a:srgbClr val="0B274B"/>
                </a:solidFill>
                <a:latin typeface="Nunito Bold"/>
                <a:ea typeface="Nunito Bold"/>
                <a:cs typeface="Nunito Bold"/>
                <a:sym typeface="Nunito Bold"/>
              </a:rPr>
              <a:t>About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0" y="7845232"/>
            <a:ext cx="18288000" cy="2441768"/>
          </a:xfrm>
          <a:custGeom>
            <a:avLst/>
            <a:gdLst/>
            <a:ahLst/>
            <a:cxnLst/>
            <a:rect r="r" b="b" t="t" l="l"/>
            <a:pathLst>
              <a:path h="2441768" w="18288000">
                <a:moveTo>
                  <a:pt x="0" y="0"/>
                </a:moveTo>
                <a:lnTo>
                  <a:pt x="18288000" y="0"/>
                </a:lnTo>
                <a:lnTo>
                  <a:pt x="18288000" y="2441768"/>
                </a:lnTo>
                <a:lnTo>
                  <a:pt x="0" y="24417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044066" y="8148348"/>
            <a:ext cx="1077746" cy="926188"/>
          </a:xfrm>
          <a:custGeom>
            <a:avLst/>
            <a:gdLst/>
            <a:ahLst/>
            <a:cxnLst/>
            <a:rect r="r" b="b" t="t" l="l"/>
            <a:pathLst>
              <a:path h="926188" w="1077746">
                <a:moveTo>
                  <a:pt x="0" y="0"/>
                </a:moveTo>
                <a:lnTo>
                  <a:pt x="1077746" y="0"/>
                </a:lnTo>
                <a:lnTo>
                  <a:pt x="1077746" y="926188"/>
                </a:lnTo>
                <a:lnTo>
                  <a:pt x="0" y="9261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5978122" y="8148348"/>
            <a:ext cx="353635" cy="1532420"/>
          </a:xfrm>
          <a:custGeom>
            <a:avLst/>
            <a:gdLst/>
            <a:ahLst/>
            <a:cxnLst/>
            <a:rect r="r" b="b" t="t" l="l"/>
            <a:pathLst>
              <a:path h="1532420" w="353635">
                <a:moveTo>
                  <a:pt x="0" y="0"/>
                </a:moveTo>
                <a:lnTo>
                  <a:pt x="353635" y="0"/>
                </a:lnTo>
                <a:lnTo>
                  <a:pt x="353635" y="1532420"/>
                </a:lnTo>
                <a:lnTo>
                  <a:pt x="0" y="15324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2293039" y="8148348"/>
            <a:ext cx="370475" cy="1532420"/>
          </a:xfrm>
          <a:custGeom>
            <a:avLst/>
            <a:gdLst/>
            <a:ahLst/>
            <a:cxnLst/>
            <a:rect r="r" b="b" t="t" l="l"/>
            <a:pathLst>
              <a:path h="1532420" w="370475">
                <a:moveTo>
                  <a:pt x="0" y="0"/>
                </a:moveTo>
                <a:lnTo>
                  <a:pt x="370475" y="0"/>
                </a:lnTo>
                <a:lnTo>
                  <a:pt x="370475" y="1532420"/>
                </a:lnTo>
                <a:lnTo>
                  <a:pt x="0" y="153242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6668552" y="8451464"/>
            <a:ext cx="724110" cy="319956"/>
          </a:xfrm>
          <a:custGeom>
            <a:avLst/>
            <a:gdLst/>
            <a:ahLst/>
            <a:cxnLst/>
            <a:rect r="r" b="b" t="t" l="l"/>
            <a:pathLst>
              <a:path h="319956" w="724110">
                <a:moveTo>
                  <a:pt x="0" y="0"/>
                </a:moveTo>
                <a:lnTo>
                  <a:pt x="724111" y="0"/>
                </a:lnTo>
                <a:lnTo>
                  <a:pt x="724111" y="319956"/>
                </a:lnTo>
                <a:lnTo>
                  <a:pt x="0" y="31995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7385067" y="8482353"/>
            <a:ext cx="871418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-3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Jira Project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8083094" y="8451464"/>
            <a:ext cx="724110" cy="319956"/>
          </a:xfrm>
          <a:custGeom>
            <a:avLst/>
            <a:gdLst/>
            <a:ahLst/>
            <a:cxnLst/>
            <a:rect r="r" b="b" t="t" l="l"/>
            <a:pathLst>
              <a:path h="319956" w="724110">
                <a:moveTo>
                  <a:pt x="0" y="0"/>
                </a:moveTo>
                <a:lnTo>
                  <a:pt x="724110" y="0"/>
                </a:lnTo>
                <a:lnTo>
                  <a:pt x="724110" y="319956"/>
                </a:lnTo>
                <a:lnTo>
                  <a:pt x="0" y="31995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6668552" y="8754580"/>
            <a:ext cx="724110" cy="623072"/>
          </a:xfrm>
          <a:custGeom>
            <a:avLst/>
            <a:gdLst/>
            <a:ahLst/>
            <a:cxnLst/>
            <a:rect r="r" b="b" t="t" l="l"/>
            <a:pathLst>
              <a:path h="623072" w="724110">
                <a:moveTo>
                  <a:pt x="0" y="0"/>
                </a:moveTo>
                <a:lnTo>
                  <a:pt x="724111" y="0"/>
                </a:lnTo>
                <a:lnTo>
                  <a:pt x="724111" y="623072"/>
                </a:lnTo>
                <a:lnTo>
                  <a:pt x="0" y="62307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7378569" y="8803821"/>
            <a:ext cx="1521244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-3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GitHub Repository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8790365" y="8754580"/>
            <a:ext cx="353635" cy="319956"/>
          </a:xfrm>
          <a:custGeom>
            <a:avLst/>
            <a:gdLst/>
            <a:ahLst/>
            <a:cxnLst/>
            <a:rect r="r" b="b" t="t" l="l"/>
            <a:pathLst>
              <a:path h="319956" w="353635">
                <a:moveTo>
                  <a:pt x="0" y="0"/>
                </a:moveTo>
                <a:lnTo>
                  <a:pt x="353635" y="0"/>
                </a:lnTo>
                <a:lnTo>
                  <a:pt x="353635" y="319956"/>
                </a:lnTo>
                <a:lnTo>
                  <a:pt x="0" y="31995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6668552" y="9057696"/>
            <a:ext cx="724110" cy="319956"/>
          </a:xfrm>
          <a:custGeom>
            <a:avLst/>
            <a:gdLst/>
            <a:ahLst/>
            <a:cxnLst/>
            <a:rect r="r" b="b" t="t" l="l"/>
            <a:pathLst>
              <a:path h="319956" w="724110">
                <a:moveTo>
                  <a:pt x="0" y="0"/>
                </a:moveTo>
                <a:lnTo>
                  <a:pt x="724111" y="0"/>
                </a:lnTo>
                <a:lnTo>
                  <a:pt x="724111" y="319956"/>
                </a:lnTo>
                <a:lnTo>
                  <a:pt x="0" y="31995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2235925" y="8349853"/>
            <a:ext cx="1435659" cy="283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3"/>
              </a:lnSpc>
            </a:pPr>
            <a:r>
              <a:rPr lang="en-US" b="true" sz="1781" spc="445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VINFAST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230592" y="8660946"/>
            <a:ext cx="1968889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-3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Move Forward Together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9101328" y="901127"/>
            <a:ext cx="2384229" cy="521550"/>
          </a:xfrm>
          <a:custGeom>
            <a:avLst/>
            <a:gdLst/>
            <a:ahLst/>
            <a:cxnLst/>
            <a:rect r="r" b="b" t="t" l="l"/>
            <a:pathLst>
              <a:path h="521550" w="2384229">
                <a:moveTo>
                  <a:pt x="0" y="0"/>
                </a:moveTo>
                <a:lnTo>
                  <a:pt x="2384229" y="0"/>
                </a:lnTo>
                <a:lnTo>
                  <a:pt x="2384229" y="521550"/>
                </a:lnTo>
                <a:lnTo>
                  <a:pt x="0" y="5215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830808" y="3126395"/>
            <a:ext cx="2384229" cy="521550"/>
          </a:xfrm>
          <a:custGeom>
            <a:avLst/>
            <a:gdLst/>
            <a:ahLst/>
            <a:cxnLst/>
            <a:rect r="r" b="b" t="t" l="l"/>
            <a:pathLst>
              <a:path h="521550" w="2384229">
                <a:moveTo>
                  <a:pt x="0" y="0"/>
                </a:moveTo>
                <a:lnTo>
                  <a:pt x="2384229" y="0"/>
                </a:lnTo>
                <a:lnTo>
                  <a:pt x="2384229" y="521550"/>
                </a:lnTo>
                <a:lnTo>
                  <a:pt x="0" y="5215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1676" y="3463732"/>
            <a:ext cx="7680874" cy="1800225"/>
            <a:chOff x="0" y="0"/>
            <a:chExt cx="10241166" cy="2400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41153" cy="2400300"/>
            </a:xfrm>
            <a:custGeom>
              <a:avLst/>
              <a:gdLst/>
              <a:ahLst/>
              <a:cxnLst/>
              <a:rect r="r" b="b" t="t" l="l"/>
              <a:pathLst>
                <a:path h="2400300" w="10241153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10012553" y="0"/>
                  </a:lnTo>
                  <a:cubicBezTo>
                    <a:pt x="10138791" y="0"/>
                    <a:pt x="10241153" y="102362"/>
                    <a:pt x="10241153" y="228600"/>
                  </a:cubicBezTo>
                  <a:lnTo>
                    <a:pt x="10241153" y="2171700"/>
                  </a:lnTo>
                  <a:cubicBezTo>
                    <a:pt x="10241153" y="2297938"/>
                    <a:pt x="10138791" y="2400300"/>
                    <a:pt x="10012553" y="2400300"/>
                  </a:cubicBezTo>
                  <a:lnTo>
                    <a:pt x="228600" y="2400300"/>
                  </a:lnTo>
                  <a:cubicBezTo>
                    <a:pt x="102362" y="2400300"/>
                    <a:pt x="0" y="2297938"/>
                    <a:pt x="0" y="2171700"/>
                  </a:cubicBezTo>
                  <a:close/>
                </a:path>
              </a:pathLst>
            </a:custGeom>
            <a:solidFill>
              <a:srgbClr val="EEF4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315450" y="3463732"/>
            <a:ext cx="7680874" cy="1800225"/>
            <a:chOff x="0" y="0"/>
            <a:chExt cx="10241166" cy="24003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41153" cy="2400300"/>
            </a:xfrm>
            <a:custGeom>
              <a:avLst/>
              <a:gdLst/>
              <a:ahLst/>
              <a:cxnLst/>
              <a:rect r="r" b="b" t="t" l="l"/>
              <a:pathLst>
                <a:path h="2400300" w="10241153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10012553" y="0"/>
                  </a:lnTo>
                  <a:cubicBezTo>
                    <a:pt x="10138791" y="0"/>
                    <a:pt x="10241153" y="102362"/>
                    <a:pt x="10241153" y="228600"/>
                  </a:cubicBezTo>
                  <a:lnTo>
                    <a:pt x="10241153" y="2171700"/>
                  </a:lnTo>
                  <a:cubicBezTo>
                    <a:pt x="10241153" y="2297938"/>
                    <a:pt x="10138791" y="2400300"/>
                    <a:pt x="10012553" y="2400300"/>
                  </a:cubicBezTo>
                  <a:lnTo>
                    <a:pt x="228600" y="2400300"/>
                  </a:lnTo>
                  <a:cubicBezTo>
                    <a:pt x="102362" y="2400300"/>
                    <a:pt x="0" y="2297938"/>
                    <a:pt x="0" y="2171700"/>
                  </a:cubicBezTo>
                  <a:close/>
                </a:path>
              </a:pathLst>
            </a:custGeom>
            <a:solidFill>
              <a:srgbClr val="EEF4F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91676" y="5616382"/>
            <a:ext cx="7680874" cy="1800225"/>
            <a:chOff x="0" y="0"/>
            <a:chExt cx="10241166" cy="2400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41153" cy="2400300"/>
            </a:xfrm>
            <a:custGeom>
              <a:avLst/>
              <a:gdLst/>
              <a:ahLst/>
              <a:cxnLst/>
              <a:rect r="r" b="b" t="t" l="l"/>
              <a:pathLst>
                <a:path h="2400300" w="10241153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10012553" y="0"/>
                  </a:lnTo>
                  <a:cubicBezTo>
                    <a:pt x="10138791" y="0"/>
                    <a:pt x="10241153" y="102362"/>
                    <a:pt x="10241153" y="228600"/>
                  </a:cubicBezTo>
                  <a:lnTo>
                    <a:pt x="10241153" y="2171700"/>
                  </a:lnTo>
                  <a:cubicBezTo>
                    <a:pt x="10241153" y="2297938"/>
                    <a:pt x="10138791" y="2400300"/>
                    <a:pt x="10012553" y="2400300"/>
                  </a:cubicBezTo>
                  <a:lnTo>
                    <a:pt x="228600" y="2400300"/>
                  </a:lnTo>
                  <a:cubicBezTo>
                    <a:pt x="102362" y="2400300"/>
                    <a:pt x="0" y="2297938"/>
                    <a:pt x="0" y="2171700"/>
                  </a:cubicBezTo>
                  <a:close/>
                </a:path>
              </a:pathLst>
            </a:custGeom>
            <a:solidFill>
              <a:srgbClr val="EEF4F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315450" y="5616382"/>
            <a:ext cx="7680874" cy="1800225"/>
            <a:chOff x="0" y="0"/>
            <a:chExt cx="10241166" cy="24003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41153" cy="2400300"/>
            </a:xfrm>
            <a:custGeom>
              <a:avLst/>
              <a:gdLst/>
              <a:ahLst/>
              <a:cxnLst/>
              <a:rect r="r" b="b" t="t" l="l"/>
              <a:pathLst>
                <a:path h="2400300" w="10241153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10012553" y="0"/>
                  </a:lnTo>
                  <a:cubicBezTo>
                    <a:pt x="10138791" y="0"/>
                    <a:pt x="10241153" y="102362"/>
                    <a:pt x="10241153" y="228600"/>
                  </a:cubicBezTo>
                  <a:lnTo>
                    <a:pt x="10241153" y="2171700"/>
                  </a:lnTo>
                  <a:cubicBezTo>
                    <a:pt x="10241153" y="2297938"/>
                    <a:pt x="10138791" y="2400300"/>
                    <a:pt x="10012553" y="2400300"/>
                  </a:cubicBezTo>
                  <a:lnTo>
                    <a:pt x="228600" y="2400300"/>
                  </a:lnTo>
                  <a:cubicBezTo>
                    <a:pt x="102362" y="2400300"/>
                    <a:pt x="0" y="2297938"/>
                    <a:pt x="0" y="2171700"/>
                  </a:cubicBezTo>
                  <a:close/>
                </a:path>
              </a:pathLst>
            </a:custGeom>
            <a:solidFill>
              <a:srgbClr val="EEF4FC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78715" y="2777932"/>
            <a:ext cx="1209318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2899" b="true">
                <a:solidFill>
                  <a:srgbClr val="0B5FFF"/>
                </a:solidFill>
                <a:latin typeface="Inter Bold"/>
                <a:ea typeface="Inter Bold"/>
                <a:cs typeface="Inter Bold"/>
                <a:sym typeface="Inter Bold"/>
              </a:rPr>
              <a:t>VF002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15160" y="1839720"/>
            <a:ext cx="11457680" cy="709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true">
                <a:solidFill>
                  <a:srgbClr val="0A1F4D"/>
                </a:solidFill>
                <a:latin typeface="Inter Bold"/>
                <a:ea typeface="Inter Bold"/>
                <a:cs typeface="Inter Bold"/>
                <a:sym typeface="Inter Bold"/>
              </a:rPr>
              <a:t>Product &amp; Retail Merchandising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893469" y="2768407"/>
            <a:ext cx="850106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15M–25M VND / month | E-Commerce Operations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48876" y="3920932"/>
            <a:ext cx="8880996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A1F4D"/>
                </a:solidFill>
                <a:latin typeface="Inter Bold"/>
                <a:ea typeface="Inter Bold"/>
                <a:cs typeface="Inter Bold"/>
                <a:sym typeface="Inter Bold"/>
              </a:rPr>
              <a:t>Data Quality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48876" y="4497195"/>
            <a:ext cx="8458086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Maintain accurate vehicle pricing and specs.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72650" y="3920932"/>
            <a:ext cx="8515350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A1F4D"/>
                </a:solidFill>
                <a:latin typeface="Inter Bold"/>
                <a:ea typeface="Inter Bold"/>
                <a:cs typeface="Inter Bold"/>
                <a:sym typeface="Inter Bold"/>
              </a:rPr>
              <a:t>CMS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72650" y="4497195"/>
            <a:ext cx="8458086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Structure catalogue data accurately.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48876" y="6073582"/>
            <a:ext cx="8880996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A1F4D"/>
                </a:solidFill>
                <a:latin typeface="Inter Bold"/>
                <a:ea typeface="Inter Bold"/>
                <a:cs typeface="Inter Bold"/>
                <a:sym typeface="Inter Bold"/>
              </a:rPr>
              <a:t>Storefront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48876" y="6649845"/>
            <a:ext cx="8458086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Coordinate layouts and promotions.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72650" y="6073582"/>
            <a:ext cx="8515350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A1F4D"/>
                </a:solidFill>
                <a:latin typeface="Inter Bold"/>
                <a:ea typeface="Inter Bold"/>
                <a:cs typeface="Inter Bold"/>
                <a:sym typeface="Inter Bold"/>
              </a:rPr>
              <a:t>Testing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72650" y="6649845"/>
            <a:ext cx="8458086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Run product A/B tests.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412430" y="160726"/>
            <a:ext cx="1263780" cy="1001176"/>
          </a:xfrm>
          <a:custGeom>
            <a:avLst/>
            <a:gdLst/>
            <a:ahLst/>
            <a:cxnLst/>
            <a:rect r="r" b="b" t="t" l="l"/>
            <a:pathLst>
              <a:path h="1001176" w="1263780">
                <a:moveTo>
                  <a:pt x="0" y="0"/>
                </a:moveTo>
                <a:lnTo>
                  <a:pt x="1263780" y="0"/>
                </a:lnTo>
                <a:lnTo>
                  <a:pt x="1263780" y="1001176"/>
                </a:lnTo>
                <a:lnTo>
                  <a:pt x="0" y="10011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6326405" y="206762"/>
            <a:ext cx="1647197" cy="1065833"/>
            <a:chOff x="0" y="0"/>
            <a:chExt cx="2196263" cy="142111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6263" cy="1421111"/>
            </a:xfrm>
            <a:custGeom>
              <a:avLst/>
              <a:gdLst/>
              <a:ahLst/>
              <a:cxnLst/>
              <a:rect r="r" b="b" t="t" l="l"/>
              <a:pathLst>
                <a:path h="1421111" w="2196263">
                  <a:moveTo>
                    <a:pt x="0" y="0"/>
                  </a:moveTo>
                  <a:lnTo>
                    <a:pt x="2196263" y="0"/>
                  </a:lnTo>
                  <a:lnTo>
                    <a:pt x="2196263" y="1421111"/>
                  </a:lnTo>
                  <a:lnTo>
                    <a:pt x="0" y="14211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225008" y="518309"/>
              <a:ext cx="1933154" cy="3977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4"/>
                </a:lnSpc>
              </a:pPr>
              <a:r>
                <a:rPr lang="en-US" sz="1941" spc="-18" b="true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APPLY NOW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673270" y="374127"/>
            <a:ext cx="1829526" cy="385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1"/>
              </a:lnSpc>
            </a:pPr>
            <a:r>
              <a:rPr lang="en-US" b="true" sz="2165" spc="649">
                <a:solidFill>
                  <a:srgbClr val="0B274B"/>
                </a:solidFill>
                <a:latin typeface="Poppins Bold"/>
                <a:ea typeface="Poppins Bold"/>
                <a:cs typeface="Poppins Bold"/>
                <a:sym typeface="Poppins Bold"/>
              </a:rPr>
              <a:t>VINFAST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816707" y="464597"/>
            <a:ext cx="860532" cy="386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</a:pPr>
            <a:r>
              <a:rPr lang="en-US" b="true" sz="2349" spc="-47">
                <a:solidFill>
                  <a:srgbClr val="0B274B"/>
                </a:solidFill>
                <a:latin typeface="Nunito Bold"/>
                <a:ea typeface="Nunito Bold"/>
                <a:cs typeface="Nunito Bold"/>
                <a:sym typeface="Nunito Bold"/>
              </a:rPr>
              <a:t>Home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83235" y="464597"/>
            <a:ext cx="620414" cy="386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</a:pPr>
            <a:r>
              <a:rPr lang="en-US" b="true" sz="2349" spc="-47">
                <a:solidFill>
                  <a:srgbClr val="0B5FFF"/>
                </a:solidFill>
                <a:latin typeface="Nunito Bold"/>
                <a:ea typeface="Nunito Bold"/>
                <a:cs typeface="Nunito Bold"/>
                <a:sym typeface="Nunito Bold"/>
              </a:rPr>
              <a:t>Jobs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968294" y="464597"/>
            <a:ext cx="860840" cy="386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</a:pPr>
            <a:r>
              <a:rPr lang="en-US" sz="2349" spc="-47" b="true">
                <a:solidFill>
                  <a:srgbClr val="0B274B"/>
                </a:solidFill>
                <a:latin typeface="Nunito Bold"/>
                <a:ea typeface="Nunito Bold"/>
                <a:cs typeface="Nunito Bold"/>
                <a:sym typeface="Nunito Bold"/>
              </a:rPr>
              <a:t>Apply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132120" y="464597"/>
            <a:ext cx="890935" cy="386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</a:pPr>
            <a:r>
              <a:rPr lang="en-US" sz="2349" spc="-47" b="true">
                <a:solidFill>
                  <a:srgbClr val="0B274B"/>
                </a:solidFill>
                <a:latin typeface="Nunito Bold"/>
                <a:ea typeface="Nunito Bold"/>
                <a:cs typeface="Nunito Bold"/>
                <a:sym typeface="Nunito Bold"/>
              </a:rPr>
              <a:t>About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0" y="7845232"/>
            <a:ext cx="18288000" cy="2441768"/>
          </a:xfrm>
          <a:custGeom>
            <a:avLst/>
            <a:gdLst/>
            <a:ahLst/>
            <a:cxnLst/>
            <a:rect r="r" b="b" t="t" l="l"/>
            <a:pathLst>
              <a:path h="2441768" w="18288000">
                <a:moveTo>
                  <a:pt x="0" y="0"/>
                </a:moveTo>
                <a:lnTo>
                  <a:pt x="18288000" y="0"/>
                </a:lnTo>
                <a:lnTo>
                  <a:pt x="18288000" y="2441768"/>
                </a:lnTo>
                <a:lnTo>
                  <a:pt x="0" y="24417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044066" y="8148348"/>
            <a:ext cx="1077746" cy="926188"/>
          </a:xfrm>
          <a:custGeom>
            <a:avLst/>
            <a:gdLst/>
            <a:ahLst/>
            <a:cxnLst/>
            <a:rect r="r" b="b" t="t" l="l"/>
            <a:pathLst>
              <a:path h="926188" w="1077746">
                <a:moveTo>
                  <a:pt x="0" y="0"/>
                </a:moveTo>
                <a:lnTo>
                  <a:pt x="1077746" y="0"/>
                </a:lnTo>
                <a:lnTo>
                  <a:pt x="1077746" y="926188"/>
                </a:lnTo>
                <a:lnTo>
                  <a:pt x="0" y="9261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5978122" y="8148348"/>
            <a:ext cx="353635" cy="1532420"/>
          </a:xfrm>
          <a:custGeom>
            <a:avLst/>
            <a:gdLst/>
            <a:ahLst/>
            <a:cxnLst/>
            <a:rect r="r" b="b" t="t" l="l"/>
            <a:pathLst>
              <a:path h="1532420" w="353635">
                <a:moveTo>
                  <a:pt x="0" y="0"/>
                </a:moveTo>
                <a:lnTo>
                  <a:pt x="353635" y="0"/>
                </a:lnTo>
                <a:lnTo>
                  <a:pt x="353635" y="1532420"/>
                </a:lnTo>
                <a:lnTo>
                  <a:pt x="0" y="15324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2293039" y="8148348"/>
            <a:ext cx="370475" cy="1532420"/>
          </a:xfrm>
          <a:custGeom>
            <a:avLst/>
            <a:gdLst/>
            <a:ahLst/>
            <a:cxnLst/>
            <a:rect r="r" b="b" t="t" l="l"/>
            <a:pathLst>
              <a:path h="1532420" w="370475">
                <a:moveTo>
                  <a:pt x="0" y="0"/>
                </a:moveTo>
                <a:lnTo>
                  <a:pt x="370475" y="0"/>
                </a:lnTo>
                <a:lnTo>
                  <a:pt x="370475" y="1532420"/>
                </a:lnTo>
                <a:lnTo>
                  <a:pt x="0" y="15324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6668552" y="8451464"/>
            <a:ext cx="724110" cy="319956"/>
          </a:xfrm>
          <a:custGeom>
            <a:avLst/>
            <a:gdLst/>
            <a:ahLst/>
            <a:cxnLst/>
            <a:rect r="r" b="b" t="t" l="l"/>
            <a:pathLst>
              <a:path h="319956" w="724110">
                <a:moveTo>
                  <a:pt x="0" y="0"/>
                </a:moveTo>
                <a:lnTo>
                  <a:pt x="724111" y="0"/>
                </a:lnTo>
                <a:lnTo>
                  <a:pt x="724111" y="319956"/>
                </a:lnTo>
                <a:lnTo>
                  <a:pt x="0" y="3199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7385067" y="8482353"/>
            <a:ext cx="871418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-3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Jira Project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8083094" y="8451464"/>
            <a:ext cx="724110" cy="319956"/>
          </a:xfrm>
          <a:custGeom>
            <a:avLst/>
            <a:gdLst/>
            <a:ahLst/>
            <a:cxnLst/>
            <a:rect r="r" b="b" t="t" l="l"/>
            <a:pathLst>
              <a:path h="319956" w="724110">
                <a:moveTo>
                  <a:pt x="0" y="0"/>
                </a:moveTo>
                <a:lnTo>
                  <a:pt x="724110" y="0"/>
                </a:lnTo>
                <a:lnTo>
                  <a:pt x="724110" y="319956"/>
                </a:lnTo>
                <a:lnTo>
                  <a:pt x="0" y="31995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6668552" y="8754580"/>
            <a:ext cx="724110" cy="623072"/>
          </a:xfrm>
          <a:custGeom>
            <a:avLst/>
            <a:gdLst/>
            <a:ahLst/>
            <a:cxnLst/>
            <a:rect r="r" b="b" t="t" l="l"/>
            <a:pathLst>
              <a:path h="623072" w="724110">
                <a:moveTo>
                  <a:pt x="0" y="0"/>
                </a:moveTo>
                <a:lnTo>
                  <a:pt x="724111" y="0"/>
                </a:lnTo>
                <a:lnTo>
                  <a:pt x="724111" y="623072"/>
                </a:lnTo>
                <a:lnTo>
                  <a:pt x="0" y="62307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7378569" y="8803821"/>
            <a:ext cx="1521244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-3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GitHub Repository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8790365" y="8754580"/>
            <a:ext cx="353635" cy="319956"/>
          </a:xfrm>
          <a:custGeom>
            <a:avLst/>
            <a:gdLst/>
            <a:ahLst/>
            <a:cxnLst/>
            <a:rect r="r" b="b" t="t" l="l"/>
            <a:pathLst>
              <a:path h="319956" w="353635">
                <a:moveTo>
                  <a:pt x="0" y="0"/>
                </a:moveTo>
                <a:lnTo>
                  <a:pt x="353635" y="0"/>
                </a:lnTo>
                <a:lnTo>
                  <a:pt x="353635" y="319956"/>
                </a:lnTo>
                <a:lnTo>
                  <a:pt x="0" y="31995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6668552" y="9057696"/>
            <a:ext cx="724110" cy="319956"/>
          </a:xfrm>
          <a:custGeom>
            <a:avLst/>
            <a:gdLst/>
            <a:ahLst/>
            <a:cxnLst/>
            <a:rect r="r" b="b" t="t" l="l"/>
            <a:pathLst>
              <a:path h="319956" w="724110">
                <a:moveTo>
                  <a:pt x="0" y="0"/>
                </a:moveTo>
                <a:lnTo>
                  <a:pt x="724111" y="0"/>
                </a:lnTo>
                <a:lnTo>
                  <a:pt x="724111" y="319956"/>
                </a:lnTo>
                <a:lnTo>
                  <a:pt x="0" y="31995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2235925" y="8349853"/>
            <a:ext cx="1435659" cy="283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3"/>
              </a:lnSpc>
            </a:pPr>
            <a:r>
              <a:rPr lang="en-US" b="true" sz="1781" spc="445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VINFAST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230592" y="8660946"/>
            <a:ext cx="1968889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-3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Move Forward Together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9101328" y="901127"/>
            <a:ext cx="2384229" cy="521550"/>
          </a:xfrm>
          <a:custGeom>
            <a:avLst/>
            <a:gdLst/>
            <a:ahLst/>
            <a:cxnLst/>
            <a:rect r="r" b="b" t="t" l="l"/>
            <a:pathLst>
              <a:path h="521550" w="2384229">
                <a:moveTo>
                  <a:pt x="0" y="0"/>
                </a:moveTo>
                <a:lnTo>
                  <a:pt x="2384229" y="0"/>
                </a:lnTo>
                <a:lnTo>
                  <a:pt x="2384229" y="521550"/>
                </a:lnTo>
                <a:lnTo>
                  <a:pt x="0" y="5215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45320" y="3951695"/>
            <a:ext cx="457200" cy="457200"/>
            <a:chOff x="0" y="0"/>
            <a:chExt cx="609600" cy="6096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562" r="0" b="-156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045320" y="5137557"/>
            <a:ext cx="457200" cy="457200"/>
            <a:chOff x="0" y="0"/>
            <a:chExt cx="609600" cy="6096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562" r="0" b="-15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045320" y="6323420"/>
            <a:ext cx="457200" cy="457200"/>
            <a:chOff x="0" y="0"/>
            <a:chExt cx="609600" cy="6096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562" r="0" b="-156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59620" y="4065995"/>
            <a:ext cx="228600" cy="228600"/>
            <a:chOff x="0" y="0"/>
            <a:chExt cx="304800" cy="3048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125" r="0" b="-312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59620" y="5251857"/>
            <a:ext cx="228600" cy="228600"/>
            <a:chOff x="0" y="0"/>
            <a:chExt cx="304800" cy="3048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125" r="0" b="-3125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59620" y="6437720"/>
            <a:ext cx="228600" cy="228600"/>
            <a:chOff x="0" y="0"/>
            <a:chExt cx="304800" cy="3048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125" r="0" b="-3125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44320" y="2730114"/>
            <a:ext cx="80010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B5FFF"/>
                </a:solidFill>
                <a:latin typeface="Inter Bold"/>
                <a:ea typeface="Inter Bold"/>
                <a:cs typeface="Inter Bold"/>
                <a:sym typeface="Inter Bold"/>
              </a:rPr>
              <a:t>VF003 • DATA &amp; ANALYTICS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4320" y="3558789"/>
            <a:ext cx="8001000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10800" b="true">
                <a:solidFill>
                  <a:srgbClr val="0A1F4D"/>
                </a:solidFill>
                <a:latin typeface="Inter Bold"/>
                <a:ea typeface="Inter Bold"/>
                <a:cs typeface="Inter Bold"/>
                <a:sym typeface="Inter Bold"/>
              </a:rPr>
              <a:t>20-35M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4320" y="4844664"/>
            <a:ext cx="8001000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A1F4D"/>
                </a:solidFill>
                <a:latin typeface="Inter Bold"/>
                <a:ea typeface="Inter Bold"/>
                <a:cs typeface="Inter Bold"/>
                <a:sym typeface="Inter Bold"/>
              </a:rPr>
              <a:t>VND per month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4320" y="5478076"/>
            <a:ext cx="4429125" cy="90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Identify bottlenecks and recommend data-driven checkout improvements.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45320" y="2132420"/>
            <a:ext cx="8551069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true">
                <a:solidFill>
                  <a:srgbClr val="0A1F4D"/>
                </a:solidFill>
                <a:latin typeface="Inter Bold"/>
                <a:ea typeface="Inter Bold"/>
                <a:cs typeface="Inter Bold"/>
                <a:sym typeface="Inter Bold"/>
              </a:rPr>
              <a:t>E-Commerce</a:t>
            </a:r>
          </a:p>
          <a:p>
            <a:pPr algn="l">
              <a:lnSpc>
                <a:spcPts val="4950"/>
              </a:lnSpc>
            </a:pPr>
            <a:r>
              <a:rPr lang="en-US" sz="4500" b="true">
                <a:solidFill>
                  <a:srgbClr val="0A1F4D"/>
                </a:solidFill>
                <a:latin typeface="Inter Bold"/>
                <a:ea typeface="Inter Bold"/>
                <a:cs typeface="Inter Bold"/>
                <a:sym typeface="Inter Bold"/>
              </a:rPr>
              <a:t> Data Analyst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88270" y="3913595"/>
            <a:ext cx="7125891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A1F4D"/>
                </a:solidFill>
                <a:latin typeface="Inter Bold"/>
                <a:ea typeface="Inter Bold"/>
                <a:cs typeface="Inter Bold"/>
                <a:sym typeface="Inter Bold"/>
              </a:rPr>
              <a:t>Tracking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88270" y="4342220"/>
            <a:ext cx="6786562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Monitor e-commerce metrics and drop-offs.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88270" y="5099457"/>
            <a:ext cx="5513184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A1F4D"/>
                </a:solidFill>
                <a:latin typeface="Inter Bold"/>
                <a:ea typeface="Inter Bold"/>
                <a:cs typeface="Inter Bold"/>
                <a:sym typeface="Inter Bold"/>
              </a:rPr>
              <a:t>Dashboards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88270" y="5528082"/>
            <a:ext cx="5250656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Build Power BI or Tableau reports.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88270" y="6285320"/>
            <a:ext cx="500687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A1F4D"/>
                </a:solidFill>
                <a:latin typeface="Inter Bold"/>
                <a:ea typeface="Inter Bold"/>
                <a:cs typeface="Inter Bold"/>
                <a:sym typeface="Inter Bold"/>
              </a:rPr>
              <a:t>Performance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88270" y="6713945"/>
            <a:ext cx="4768453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Identify site traffic bottlenecks.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412430" y="160726"/>
            <a:ext cx="1263780" cy="1001176"/>
          </a:xfrm>
          <a:custGeom>
            <a:avLst/>
            <a:gdLst/>
            <a:ahLst/>
            <a:cxnLst/>
            <a:rect r="r" b="b" t="t" l="l"/>
            <a:pathLst>
              <a:path h="1001176" w="1263780">
                <a:moveTo>
                  <a:pt x="0" y="0"/>
                </a:moveTo>
                <a:lnTo>
                  <a:pt x="1263780" y="0"/>
                </a:lnTo>
                <a:lnTo>
                  <a:pt x="1263780" y="1001176"/>
                </a:lnTo>
                <a:lnTo>
                  <a:pt x="0" y="10011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6326405" y="206762"/>
            <a:ext cx="1647197" cy="1065833"/>
            <a:chOff x="0" y="0"/>
            <a:chExt cx="2196263" cy="14211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96263" cy="1421111"/>
            </a:xfrm>
            <a:custGeom>
              <a:avLst/>
              <a:gdLst/>
              <a:ahLst/>
              <a:cxnLst/>
              <a:rect r="r" b="b" t="t" l="l"/>
              <a:pathLst>
                <a:path h="1421111" w="2196263">
                  <a:moveTo>
                    <a:pt x="0" y="0"/>
                  </a:moveTo>
                  <a:lnTo>
                    <a:pt x="2196263" y="0"/>
                  </a:lnTo>
                  <a:lnTo>
                    <a:pt x="2196263" y="1421111"/>
                  </a:lnTo>
                  <a:lnTo>
                    <a:pt x="0" y="14211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225008" y="518309"/>
              <a:ext cx="1933154" cy="3977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4"/>
                </a:lnSpc>
              </a:pPr>
              <a:r>
                <a:rPr lang="en-US" sz="1941" spc="-18" b="true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APPLY NOW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673270" y="374127"/>
            <a:ext cx="1829526" cy="385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1"/>
              </a:lnSpc>
            </a:pPr>
            <a:r>
              <a:rPr lang="en-US" b="true" sz="2165" spc="649">
                <a:solidFill>
                  <a:srgbClr val="0B274B"/>
                </a:solidFill>
                <a:latin typeface="Poppins Bold"/>
                <a:ea typeface="Poppins Bold"/>
                <a:cs typeface="Poppins Bold"/>
                <a:sym typeface="Poppins Bold"/>
              </a:rPr>
              <a:t>VINFAST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816707" y="464597"/>
            <a:ext cx="860532" cy="386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</a:pPr>
            <a:r>
              <a:rPr lang="en-US" b="true" sz="2349" spc="-47">
                <a:solidFill>
                  <a:srgbClr val="0B274B"/>
                </a:solidFill>
                <a:latin typeface="Nunito Bold"/>
                <a:ea typeface="Nunito Bold"/>
                <a:cs typeface="Nunito Bold"/>
                <a:sym typeface="Nunito Bold"/>
              </a:rPr>
              <a:t>Home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983235" y="464597"/>
            <a:ext cx="620414" cy="386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</a:pPr>
            <a:r>
              <a:rPr lang="en-US" b="true" sz="2349" spc="-47">
                <a:solidFill>
                  <a:srgbClr val="0B5FFF"/>
                </a:solidFill>
                <a:latin typeface="Nunito Bold"/>
                <a:ea typeface="Nunito Bold"/>
                <a:cs typeface="Nunito Bold"/>
                <a:sym typeface="Nunito Bold"/>
              </a:rPr>
              <a:t>Jobs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968294" y="464597"/>
            <a:ext cx="860840" cy="386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</a:pPr>
            <a:r>
              <a:rPr lang="en-US" sz="2349" spc="-47" b="true">
                <a:solidFill>
                  <a:srgbClr val="0B274B"/>
                </a:solidFill>
                <a:latin typeface="Nunito Bold"/>
                <a:ea typeface="Nunito Bold"/>
                <a:cs typeface="Nunito Bold"/>
                <a:sym typeface="Nunito Bold"/>
              </a:rPr>
              <a:t>Apply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132120" y="464597"/>
            <a:ext cx="890935" cy="386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</a:pPr>
            <a:r>
              <a:rPr lang="en-US" sz="2349" spc="-47" b="true">
                <a:solidFill>
                  <a:srgbClr val="0B274B"/>
                </a:solidFill>
                <a:latin typeface="Nunito Bold"/>
                <a:ea typeface="Nunito Bold"/>
                <a:cs typeface="Nunito Bold"/>
                <a:sym typeface="Nunito Bold"/>
              </a:rPr>
              <a:t>About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0" y="7845232"/>
            <a:ext cx="18288000" cy="2441768"/>
          </a:xfrm>
          <a:custGeom>
            <a:avLst/>
            <a:gdLst/>
            <a:ahLst/>
            <a:cxnLst/>
            <a:rect r="r" b="b" t="t" l="l"/>
            <a:pathLst>
              <a:path h="2441768" w="18288000">
                <a:moveTo>
                  <a:pt x="0" y="0"/>
                </a:moveTo>
                <a:lnTo>
                  <a:pt x="18288000" y="0"/>
                </a:lnTo>
                <a:lnTo>
                  <a:pt x="18288000" y="2441768"/>
                </a:lnTo>
                <a:lnTo>
                  <a:pt x="0" y="24417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044066" y="8148348"/>
            <a:ext cx="1077746" cy="926188"/>
          </a:xfrm>
          <a:custGeom>
            <a:avLst/>
            <a:gdLst/>
            <a:ahLst/>
            <a:cxnLst/>
            <a:rect r="r" b="b" t="t" l="l"/>
            <a:pathLst>
              <a:path h="926188" w="1077746">
                <a:moveTo>
                  <a:pt x="0" y="0"/>
                </a:moveTo>
                <a:lnTo>
                  <a:pt x="1077746" y="0"/>
                </a:lnTo>
                <a:lnTo>
                  <a:pt x="1077746" y="926188"/>
                </a:lnTo>
                <a:lnTo>
                  <a:pt x="0" y="92618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5978122" y="8148348"/>
            <a:ext cx="353635" cy="1532420"/>
          </a:xfrm>
          <a:custGeom>
            <a:avLst/>
            <a:gdLst/>
            <a:ahLst/>
            <a:cxnLst/>
            <a:rect r="r" b="b" t="t" l="l"/>
            <a:pathLst>
              <a:path h="1532420" w="353635">
                <a:moveTo>
                  <a:pt x="0" y="0"/>
                </a:moveTo>
                <a:lnTo>
                  <a:pt x="353635" y="0"/>
                </a:lnTo>
                <a:lnTo>
                  <a:pt x="353635" y="1532420"/>
                </a:lnTo>
                <a:lnTo>
                  <a:pt x="0" y="153242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2293039" y="8148348"/>
            <a:ext cx="370475" cy="1532420"/>
          </a:xfrm>
          <a:custGeom>
            <a:avLst/>
            <a:gdLst/>
            <a:ahLst/>
            <a:cxnLst/>
            <a:rect r="r" b="b" t="t" l="l"/>
            <a:pathLst>
              <a:path h="1532420" w="370475">
                <a:moveTo>
                  <a:pt x="0" y="0"/>
                </a:moveTo>
                <a:lnTo>
                  <a:pt x="370475" y="0"/>
                </a:lnTo>
                <a:lnTo>
                  <a:pt x="370475" y="1532420"/>
                </a:lnTo>
                <a:lnTo>
                  <a:pt x="0" y="15324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6668552" y="8451464"/>
            <a:ext cx="724110" cy="319956"/>
          </a:xfrm>
          <a:custGeom>
            <a:avLst/>
            <a:gdLst/>
            <a:ahLst/>
            <a:cxnLst/>
            <a:rect r="r" b="b" t="t" l="l"/>
            <a:pathLst>
              <a:path h="319956" w="724110">
                <a:moveTo>
                  <a:pt x="0" y="0"/>
                </a:moveTo>
                <a:lnTo>
                  <a:pt x="724111" y="0"/>
                </a:lnTo>
                <a:lnTo>
                  <a:pt x="724111" y="319956"/>
                </a:lnTo>
                <a:lnTo>
                  <a:pt x="0" y="31995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7385067" y="8482353"/>
            <a:ext cx="871418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-3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Jira Project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8083094" y="8451464"/>
            <a:ext cx="724110" cy="319956"/>
          </a:xfrm>
          <a:custGeom>
            <a:avLst/>
            <a:gdLst/>
            <a:ahLst/>
            <a:cxnLst/>
            <a:rect r="r" b="b" t="t" l="l"/>
            <a:pathLst>
              <a:path h="319956" w="724110">
                <a:moveTo>
                  <a:pt x="0" y="0"/>
                </a:moveTo>
                <a:lnTo>
                  <a:pt x="724110" y="0"/>
                </a:lnTo>
                <a:lnTo>
                  <a:pt x="724110" y="319956"/>
                </a:lnTo>
                <a:lnTo>
                  <a:pt x="0" y="31995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6668552" y="8754580"/>
            <a:ext cx="724110" cy="623072"/>
          </a:xfrm>
          <a:custGeom>
            <a:avLst/>
            <a:gdLst/>
            <a:ahLst/>
            <a:cxnLst/>
            <a:rect r="r" b="b" t="t" l="l"/>
            <a:pathLst>
              <a:path h="623072" w="724110">
                <a:moveTo>
                  <a:pt x="0" y="0"/>
                </a:moveTo>
                <a:lnTo>
                  <a:pt x="724111" y="0"/>
                </a:lnTo>
                <a:lnTo>
                  <a:pt x="724111" y="623072"/>
                </a:lnTo>
                <a:lnTo>
                  <a:pt x="0" y="62307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7378569" y="8803821"/>
            <a:ext cx="1521244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-3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GitHub Repository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8790365" y="8754580"/>
            <a:ext cx="353635" cy="319956"/>
          </a:xfrm>
          <a:custGeom>
            <a:avLst/>
            <a:gdLst/>
            <a:ahLst/>
            <a:cxnLst/>
            <a:rect r="r" b="b" t="t" l="l"/>
            <a:pathLst>
              <a:path h="319956" w="353635">
                <a:moveTo>
                  <a:pt x="0" y="0"/>
                </a:moveTo>
                <a:lnTo>
                  <a:pt x="353635" y="0"/>
                </a:lnTo>
                <a:lnTo>
                  <a:pt x="353635" y="319956"/>
                </a:lnTo>
                <a:lnTo>
                  <a:pt x="0" y="31995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6668552" y="9057696"/>
            <a:ext cx="724110" cy="319956"/>
          </a:xfrm>
          <a:custGeom>
            <a:avLst/>
            <a:gdLst/>
            <a:ahLst/>
            <a:cxnLst/>
            <a:rect r="r" b="b" t="t" l="l"/>
            <a:pathLst>
              <a:path h="319956" w="724110">
                <a:moveTo>
                  <a:pt x="0" y="0"/>
                </a:moveTo>
                <a:lnTo>
                  <a:pt x="724111" y="0"/>
                </a:lnTo>
                <a:lnTo>
                  <a:pt x="724111" y="319956"/>
                </a:lnTo>
                <a:lnTo>
                  <a:pt x="0" y="31995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2235925" y="8349853"/>
            <a:ext cx="1435659" cy="283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3"/>
              </a:lnSpc>
            </a:pPr>
            <a:r>
              <a:rPr lang="en-US" b="true" sz="1781" spc="445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VINFAST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230592" y="8660946"/>
            <a:ext cx="1968889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-3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Move Forward Together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9101328" y="901127"/>
            <a:ext cx="2384229" cy="521550"/>
          </a:xfrm>
          <a:custGeom>
            <a:avLst/>
            <a:gdLst/>
            <a:ahLst/>
            <a:cxnLst/>
            <a:rect r="r" b="b" t="t" l="l"/>
            <a:pathLst>
              <a:path h="521550" w="2384229">
                <a:moveTo>
                  <a:pt x="0" y="0"/>
                </a:moveTo>
                <a:lnTo>
                  <a:pt x="2384229" y="0"/>
                </a:lnTo>
                <a:lnTo>
                  <a:pt x="2384229" y="521550"/>
                </a:lnTo>
                <a:lnTo>
                  <a:pt x="0" y="5215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591500" y="2070116"/>
            <a:ext cx="5600700" cy="5314950"/>
            <a:chOff x="0" y="0"/>
            <a:chExt cx="7467600" cy="7086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67600" cy="7086664"/>
            </a:xfrm>
            <a:custGeom>
              <a:avLst/>
              <a:gdLst/>
              <a:ahLst/>
              <a:cxnLst/>
              <a:rect r="r" b="b" t="t" l="l"/>
              <a:pathLst>
                <a:path h="7086664" w="7467600">
                  <a:moveTo>
                    <a:pt x="0" y="271001"/>
                  </a:moveTo>
                  <a:cubicBezTo>
                    <a:pt x="0" y="121348"/>
                    <a:pt x="102362" y="0"/>
                    <a:pt x="228600" y="0"/>
                  </a:cubicBezTo>
                  <a:lnTo>
                    <a:pt x="7239000" y="0"/>
                  </a:lnTo>
                  <a:cubicBezTo>
                    <a:pt x="7365238" y="0"/>
                    <a:pt x="7467600" y="121348"/>
                    <a:pt x="7467600" y="271001"/>
                  </a:cubicBezTo>
                  <a:lnTo>
                    <a:pt x="7467600" y="6815675"/>
                  </a:lnTo>
                  <a:cubicBezTo>
                    <a:pt x="7467600" y="6965328"/>
                    <a:pt x="7365238" y="7086664"/>
                    <a:pt x="7239000" y="7086664"/>
                  </a:cubicBezTo>
                  <a:lnTo>
                    <a:pt x="228600" y="7086664"/>
                  </a:lnTo>
                  <a:cubicBezTo>
                    <a:pt x="102362" y="7086664"/>
                    <a:pt x="0" y="6965328"/>
                    <a:pt x="0" y="6815675"/>
                  </a:cubicBezTo>
                  <a:close/>
                </a:path>
              </a:pathLst>
            </a:custGeom>
            <a:solidFill>
              <a:srgbClr val="0A1F4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96415" y="3927491"/>
            <a:ext cx="9486900" cy="1400175"/>
            <a:chOff x="0" y="0"/>
            <a:chExt cx="12649200" cy="1866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649200" cy="1866900"/>
            </a:xfrm>
            <a:custGeom>
              <a:avLst/>
              <a:gdLst/>
              <a:ahLst/>
              <a:cxnLst/>
              <a:rect r="r" b="b" t="t" l="l"/>
              <a:pathLst>
                <a:path h="1866900" w="126492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12420600" y="0"/>
                  </a:lnTo>
                  <a:cubicBezTo>
                    <a:pt x="12546838" y="0"/>
                    <a:pt x="12649200" y="102362"/>
                    <a:pt x="12649200" y="228600"/>
                  </a:cubicBezTo>
                  <a:lnTo>
                    <a:pt x="12649200" y="1638300"/>
                  </a:lnTo>
                  <a:cubicBezTo>
                    <a:pt x="12649200" y="1764538"/>
                    <a:pt x="12546838" y="1866900"/>
                    <a:pt x="12420600" y="1866900"/>
                  </a:cubicBezTo>
                  <a:lnTo>
                    <a:pt x="228600" y="1866900"/>
                  </a:lnTo>
                  <a:cubicBezTo>
                    <a:pt x="102362" y="1866900"/>
                    <a:pt x="0" y="1764538"/>
                    <a:pt x="0" y="1638300"/>
                  </a:cubicBezTo>
                  <a:close/>
                </a:path>
              </a:pathLst>
            </a:custGeom>
            <a:solidFill>
              <a:srgbClr val="EEF4F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277300" y="5541988"/>
            <a:ext cx="4229100" cy="14288"/>
            <a:chOff x="0" y="0"/>
            <a:chExt cx="5638800" cy="19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38800" cy="19050"/>
            </a:xfrm>
            <a:custGeom>
              <a:avLst/>
              <a:gdLst/>
              <a:ahLst/>
              <a:cxnLst/>
              <a:rect r="r" b="b" t="t" l="l"/>
              <a:pathLst>
                <a:path h="19050" w="5638800">
                  <a:moveTo>
                    <a:pt x="0" y="0"/>
                  </a:moveTo>
                  <a:lnTo>
                    <a:pt x="5638800" y="0"/>
                  </a:lnTo>
                  <a:lnTo>
                    <a:pt x="5638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277300" y="6013475"/>
            <a:ext cx="342900" cy="342900"/>
            <a:chOff x="0" y="0"/>
            <a:chExt cx="457200" cy="4572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083" r="0" b="-208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96415" y="5842016"/>
            <a:ext cx="200025" cy="228600"/>
            <a:chOff x="0" y="0"/>
            <a:chExt cx="266700" cy="3048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266700" cy="304800"/>
            </a:xfrm>
            <a:custGeom>
              <a:avLst/>
              <a:gdLst/>
              <a:ahLst/>
              <a:cxnLst/>
              <a:rect r="r" b="b" t="t" l="l"/>
              <a:pathLst>
                <a:path h="3048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96415" y="6470666"/>
            <a:ext cx="200025" cy="228600"/>
            <a:chOff x="0" y="0"/>
            <a:chExt cx="266700" cy="3048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266700" cy="304800"/>
            </a:xfrm>
            <a:custGeom>
              <a:avLst/>
              <a:gdLst/>
              <a:ahLst/>
              <a:cxnLst/>
              <a:rect r="r" b="b" t="t" l="l"/>
              <a:pathLst>
                <a:path h="3048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96415" y="7099316"/>
            <a:ext cx="200025" cy="228600"/>
            <a:chOff x="0" y="0"/>
            <a:chExt cx="266700" cy="3048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266700" cy="304800"/>
            </a:xfrm>
            <a:custGeom>
              <a:avLst/>
              <a:gdLst/>
              <a:ahLst/>
              <a:cxnLst/>
              <a:rect r="r" b="b" t="t" l="l"/>
              <a:pathLst>
                <a:path h="3048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96415" y="2060591"/>
            <a:ext cx="10111264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0A1F4D"/>
                </a:solidFill>
                <a:latin typeface="Inter Bold"/>
                <a:ea typeface="Inter Bold"/>
                <a:cs typeface="Inter Bold"/>
                <a:sym typeface="Inter Bold"/>
              </a:rPr>
              <a:t>Customer Experience</a:t>
            </a:r>
          </a:p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0A1F4D"/>
                </a:solidFill>
                <a:latin typeface="Inter Bold"/>
                <a:ea typeface="Inter Bold"/>
                <a:cs typeface="Inter Bold"/>
                <a:sym typeface="Inter Bold"/>
              </a:rPr>
              <a:t> CRM Manager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77300" y="3244596"/>
            <a:ext cx="5286375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B5FFF"/>
                </a:solidFill>
                <a:latin typeface="Inter Bold"/>
                <a:ea typeface="Inter Bold"/>
                <a:cs typeface="Inter Bold"/>
                <a:sym typeface="Inter Bold"/>
              </a:rPr>
              <a:t>VF004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277300" y="3816096"/>
            <a:ext cx="5286375" cy="697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8"/>
              </a:lnSpc>
            </a:pPr>
            <a:r>
              <a:rPr lang="en-US" sz="54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40M-65M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277300" y="4732363"/>
            <a:ext cx="528637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EEF4FC"/>
                </a:solidFill>
                <a:latin typeface="Inter"/>
                <a:ea typeface="Inter"/>
                <a:cs typeface="Inter"/>
                <a:sym typeface="Inter"/>
              </a:rPr>
              <a:t>VND / month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39315" y="4260866"/>
            <a:ext cx="11001375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A1F4D"/>
                </a:solidFill>
                <a:latin typeface="Inter Bold"/>
                <a:ea typeface="Inter Bold"/>
                <a:cs typeface="Inter Bold"/>
                <a:sym typeface="Inter Bold"/>
              </a:rPr>
              <a:t>Primary Goal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39315" y="4675203"/>
            <a:ext cx="11001375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Personalise post-purchase communications and monitor satisfaction.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848800" y="6025382"/>
            <a:ext cx="3339703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Customer Experience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25040" y="5775341"/>
            <a:ext cx="6822281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Manage CRM for customer interactions.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25040" y="6403991"/>
            <a:ext cx="600075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Develop email and SMS workflows.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25040" y="7032641"/>
            <a:ext cx="692943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Segment data for automated campaigns.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412430" y="160726"/>
            <a:ext cx="1263780" cy="1001176"/>
          </a:xfrm>
          <a:custGeom>
            <a:avLst/>
            <a:gdLst/>
            <a:ahLst/>
            <a:cxnLst/>
            <a:rect r="r" b="b" t="t" l="l"/>
            <a:pathLst>
              <a:path h="1001176" w="1263780">
                <a:moveTo>
                  <a:pt x="0" y="0"/>
                </a:moveTo>
                <a:lnTo>
                  <a:pt x="1263780" y="0"/>
                </a:lnTo>
                <a:lnTo>
                  <a:pt x="1263780" y="1001176"/>
                </a:lnTo>
                <a:lnTo>
                  <a:pt x="0" y="10011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6326405" y="206762"/>
            <a:ext cx="1647197" cy="1065833"/>
            <a:chOff x="0" y="0"/>
            <a:chExt cx="2196263" cy="142111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96263" cy="1421111"/>
            </a:xfrm>
            <a:custGeom>
              <a:avLst/>
              <a:gdLst/>
              <a:ahLst/>
              <a:cxnLst/>
              <a:rect r="r" b="b" t="t" l="l"/>
              <a:pathLst>
                <a:path h="1421111" w="2196263">
                  <a:moveTo>
                    <a:pt x="0" y="0"/>
                  </a:moveTo>
                  <a:lnTo>
                    <a:pt x="2196263" y="0"/>
                  </a:lnTo>
                  <a:lnTo>
                    <a:pt x="2196263" y="1421111"/>
                  </a:lnTo>
                  <a:lnTo>
                    <a:pt x="0" y="14211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 rot="0">
              <a:off x="225008" y="518309"/>
              <a:ext cx="1933154" cy="3977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4"/>
                </a:lnSpc>
              </a:pPr>
              <a:r>
                <a:rPr lang="en-US" sz="1941" spc="-18" b="true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APPLY NOW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673270" y="374127"/>
            <a:ext cx="1829526" cy="385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1"/>
              </a:lnSpc>
            </a:pPr>
            <a:r>
              <a:rPr lang="en-US" b="true" sz="2165" spc="649">
                <a:solidFill>
                  <a:srgbClr val="0B274B"/>
                </a:solidFill>
                <a:latin typeface="Poppins Bold"/>
                <a:ea typeface="Poppins Bold"/>
                <a:cs typeface="Poppins Bold"/>
                <a:sym typeface="Poppins Bold"/>
              </a:rPr>
              <a:t>VINFAST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816707" y="464597"/>
            <a:ext cx="860532" cy="386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</a:pPr>
            <a:r>
              <a:rPr lang="en-US" b="true" sz="2349" spc="-47">
                <a:solidFill>
                  <a:srgbClr val="0B274B"/>
                </a:solidFill>
                <a:latin typeface="Nunito Bold"/>
                <a:ea typeface="Nunito Bold"/>
                <a:cs typeface="Nunito Bold"/>
                <a:sym typeface="Nunito Bold"/>
              </a:rPr>
              <a:t>Home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983235" y="464597"/>
            <a:ext cx="620414" cy="386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</a:pPr>
            <a:r>
              <a:rPr lang="en-US" b="true" sz="2349" spc="-47">
                <a:solidFill>
                  <a:srgbClr val="0B5FFF"/>
                </a:solidFill>
                <a:latin typeface="Nunito Bold"/>
                <a:ea typeface="Nunito Bold"/>
                <a:cs typeface="Nunito Bold"/>
                <a:sym typeface="Nunito Bold"/>
              </a:rPr>
              <a:t>Jobs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968294" y="464597"/>
            <a:ext cx="860840" cy="386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</a:pPr>
            <a:r>
              <a:rPr lang="en-US" sz="2349" spc="-47" b="true">
                <a:solidFill>
                  <a:srgbClr val="0B274B"/>
                </a:solidFill>
                <a:latin typeface="Nunito Bold"/>
                <a:ea typeface="Nunito Bold"/>
                <a:cs typeface="Nunito Bold"/>
                <a:sym typeface="Nunito Bold"/>
              </a:rPr>
              <a:t>Apply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132120" y="464597"/>
            <a:ext cx="890935" cy="386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</a:pPr>
            <a:r>
              <a:rPr lang="en-US" sz="2349" spc="-47" b="true">
                <a:solidFill>
                  <a:srgbClr val="0B274B"/>
                </a:solidFill>
                <a:latin typeface="Nunito Bold"/>
                <a:ea typeface="Nunito Bold"/>
                <a:cs typeface="Nunito Bold"/>
                <a:sym typeface="Nunito Bold"/>
              </a:rPr>
              <a:t>About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0" y="7845232"/>
            <a:ext cx="18288000" cy="2441768"/>
          </a:xfrm>
          <a:custGeom>
            <a:avLst/>
            <a:gdLst/>
            <a:ahLst/>
            <a:cxnLst/>
            <a:rect r="r" b="b" t="t" l="l"/>
            <a:pathLst>
              <a:path h="2441768" w="18288000">
                <a:moveTo>
                  <a:pt x="0" y="0"/>
                </a:moveTo>
                <a:lnTo>
                  <a:pt x="18288000" y="0"/>
                </a:lnTo>
                <a:lnTo>
                  <a:pt x="18288000" y="2441768"/>
                </a:lnTo>
                <a:lnTo>
                  <a:pt x="0" y="24417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044066" y="8148348"/>
            <a:ext cx="1077746" cy="926188"/>
          </a:xfrm>
          <a:custGeom>
            <a:avLst/>
            <a:gdLst/>
            <a:ahLst/>
            <a:cxnLst/>
            <a:rect r="r" b="b" t="t" l="l"/>
            <a:pathLst>
              <a:path h="926188" w="1077746">
                <a:moveTo>
                  <a:pt x="0" y="0"/>
                </a:moveTo>
                <a:lnTo>
                  <a:pt x="1077746" y="0"/>
                </a:lnTo>
                <a:lnTo>
                  <a:pt x="1077746" y="926188"/>
                </a:lnTo>
                <a:lnTo>
                  <a:pt x="0" y="9261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5978122" y="8148348"/>
            <a:ext cx="353635" cy="1532420"/>
          </a:xfrm>
          <a:custGeom>
            <a:avLst/>
            <a:gdLst/>
            <a:ahLst/>
            <a:cxnLst/>
            <a:rect r="r" b="b" t="t" l="l"/>
            <a:pathLst>
              <a:path h="1532420" w="353635">
                <a:moveTo>
                  <a:pt x="0" y="0"/>
                </a:moveTo>
                <a:lnTo>
                  <a:pt x="353635" y="0"/>
                </a:lnTo>
                <a:lnTo>
                  <a:pt x="353635" y="1532420"/>
                </a:lnTo>
                <a:lnTo>
                  <a:pt x="0" y="153242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2293039" y="8148348"/>
            <a:ext cx="370475" cy="1532420"/>
          </a:xfrm>
          <a:custGeom>
            <a:avLst/>
            <a:gdLst/>
            <a:ahLst/>
            <a:cxnLst/>
            <a:rect r="r" b="b" t="t" l="l"/>
            <a:pathLst>
              <a:path h="1532420" w="370475">
                <a:moveTo>
                  <a:pt x="0" y="0"/>
                </a:moveTo>
                <a:lnTo>
                  <a:pt x="370475" y="0"/>
                </a:lnTo>
                <a:lnTo>
                  <a:pt x="370475" y="1532420"/>
                </a:lnTo>
                <a:lnTo>
                  <a:pt x="0" y="153242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6668552" y="8451464"/>
            <a:ext cx="724110" cy="319956"/>
          </a:xfrm>
          <a:custGeom>
            <a:avLst/>
            <a:gdLst/>
            <a:ahLst/>
            <a:cxnLst/>
            <a:rect r="r" b="b" t="t" l="l"/>
            <a:pathLst>
              <a:path h="319956" w="724110">
                <a:moveTo>
                  <a:pt x="0" y="0"/>
                </a:moveTo>
                <a:lnTo>
                  <a:pt x="724111" y="0"/>
                </a:lnTo>
                <a:lnTo>
                  <a:pt x="724111" y="319956"/>
                </a:lnTo>
                <a:lnTo>
                  <a:pt x="0" y="31995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7385067" y="8482353"/>
            <a:ext cx="871418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-3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Jira Project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8083094" y="8451464"/>
            <a:ext cx="724110" cy="319956"/>
          </a:xfrm>
          <a:custGeom>
            <a:avLst/>
            <a:gdLst/>
            <a:ahLst/>
            <a:cxnLst/>
            <a:rect r="r" b="b" t="t" l="l"/>
            <a:pathLst>
              <a:path h="319956" w="724110">
                <a:moveTo>
                  <a:pt x="0" y="0"/>
                </a:moveTo>
                <a:lnTo>
                  <a:pt x="724110" y="0"/>
                </a:lnTo>
                <a:lnTo>
                  <a:pt x="724110" y="319956"/>
                </a:lnTo>
                <a:lnTo>
                  <a:pt x="0" y="31995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6668552" y="8754580"/>
            <a:ext cx="724110" cy="623072"/>
          </a:xfrm>
          <a:custGeom>
            <a:avLst/>
            <a:gdLst/>
            <a:ahLst/>
            <a:cxnLst/>
            <a:rect r="r" b="b" t="t" l="l"/>
            <a:pathLst>
              <a:path h="623072" w="724110">
                <a:moveTo>
                  <a:pt x="0" y="0"/>
                </a:moveTo>
                <a:lnTo>
                  <a:pt x="724111" y="0"/>
                </a:lnTo>
                <a:lnTo>
                  <a:pt x="724111" y="623072"/>
                </a:lnTo>
                <a:lnTo>
                  <a:pt x="0" y="62307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7378569" y="8803821"/>
            <a:ext cx="1521244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-3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GitHub Repository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8790365" y="8754580"/>
            <a:ext cx="353635" cy="319956"/>
          </a:xfrm>
          <a:custGeom>
            <a:avLst/>
            <a:gdLst/>
            <a:ahLst/>
            <a:cxnLst/>
            <a:rect r="r" b="b" t="t" l="l"/>
            <a:pathLst>
              <a:path h="319956" w="353635">
                <a:moveTo>
                  <a:pt x="0" y="0"/>
                </a:moveTo>
                <a:lnTo>
                  <a:pt x="353635" y="0"/>
                </a:lnTo>
                <a:lnTo>
                  <a:pt x="353635" y="319956"/>
                </a:lnTo>
                <a:lnTo>
                  <a:pt x="0" y="31995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6668552" y="9057696"/>
            <a:ext cx="724110" cy="319956"/>
          </a:xfrm>
          <a:custGeom>
            <a:avLst/>
            <a:gdLst/>
            <a:ahLst/>
            <a:cxnLst/>
            <a:rect r="r" b="b" t="t" l="l"/>
            <a:pathLst>
              <a:path h="319956" w="724110">
                <a:moveTo>
                  <a:pt x="0" y="0"/>
                </a:moveTo>
                <a:lnTo>
                  <a:pt x="724111" y="0"/>
                </a:lnTo>
                <a:lnTo>
                  <a:pt x="724111" y="319956"/>
                </a:lnTo>
                <a:lnTo>
                  <a:pt x="0" y="31995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2235925" y="8349853"/>
            <a:ext cx="1435659" cy="283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3"/>
              </a:lnSpc>
            </a:pPr>
            <a:r>
              <a:rPr lang="en-US" b="true" sz="1781" spc="445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VINFAST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230592" y="8660946"/>
            <a:ext cx="1968889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-3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Move Forward Together</a:t>
            </a:r>
          </a:p>
        </p:txBody>
      </p:sp>
      <p:sp>
        <p:nvSpPr>
          <p:cNvPr name="Freeform 48" id="48"/>
          <p:cNvSpPr/>
          <p:nvPr/>
        </p:nvSpPr>
        <p:spPr>
          <a:xfrm flipH="false" flipV="false" rot="0">
            <a:off x="9101328" y="901127"/>
            <a:ext cx="2384229" cy="521550"/>
          </a:xfrm>
          <a:custGeom>
            <a:avLst/>
            <a:gdLst/>
            <a:ahLst/>
            <a:cxnLst/>
            <a:rect r="r" b="b" t="t" l="l"/>
            <a:pathLst>
              <a:path h="521550" w="2384229">
                <a:moveTo>
                  <a:pt x="0" y="0"/>
                </a:moveTo>
                <a:lnTo>
                  <a:pt x="2384229" y="0"/>
                </a:lnTo>
                <a:lnTo>
                  <a:pt x="2384229" y="521550"/>
                </a:lnTo>
                <a:lnTo>
                  <a:pt x="0" y="5215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72595"/>
            <a:ext cx="9144000" cy="6828128"/>
            <a:chOff x="0" y="0"/>
            <a:chExt cx="12192000" cy="91041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0" cy="9104171"/>
            </a:xfrm>
            <a:custGeom>
              <a:avLst/>
              <a:gdLst/>
              <a:ahLst/>
              <a:cxnLst/>
              <a:rect r="r" b="b" t="t" l="l"/>
              <a:pathLst>
                <a:path h="9104171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9104171"/>
                  </a:lnTo>
                  <a:lnTo>
                    <a:pt x="0" y="9104171"/>
                  </a:lnTo>
                  <a:close/>
                </a:path>
              </a:pathLst>
            </a:custGeom>
            <a:solidFill>
              <a:srgbClr val="0A1F4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0" y="1272595"/>
            <a:ext cx="9144000" cy="6828128"/>
            <a:chOff x="0" y="0"/>
            <a:chExt cx="12192000" cy="91041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192000" cy="9104171"/>
            </a:xfrm>
            <a:custGeom>
              <a:avLst/>
              <a:gdLst/>
              <a:ahLst/>
              <a:cxnLst/>
              <a:rect r="r" b="b" t="t" l="l"/>
              <a:pathLst>
                <a:path h="9104171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9104171"/>
                  </a:lnTo>
                  <a:lnTo>
                    <a:pt x="0" y="9104171"/>
                  </a:lnTo>
                  <a:close/>
                </a:path>
              </a:pathLst>
            </a:custGeom>
            <a:solidFill>
              <a:srgbClr val="FFF3E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0" y="2758495"/>
            <a:ext cx="571500" cy="571500"/>
            <a:chOff x="0" y="0"/>
            <a:chExt cx="762000" cy="7620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" y="4001508"/>
            <a:ext cx="457200" cy="457200"/>
            <a:chOff x="0" y="0"/>
            <a:chExt cx="609600" cy="6096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43000" y="5244520"/>
            <a:ext cx="457200" cy="457200"/>
            <a:chOff x="0" y="0"/>
            <a:chExt cx="609600" cy="6096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287000" y="4137239"/>
            <a:ext cx="285750" cy="285750"/>
            <a:chOff x="0" y="0"/>
            <a:chExt cx="381000" cy="3810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500" r="0" b="-250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287000" y="5337389"/>
            <a:ext cx="285750" cy="285750"/>
            <a:chOff x="0" y="0"/>
            <a:chExt cx="381000" cy="3810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500" r="0" b="-250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287000" y="6537539"/>
            <a:ext cx="285750" cy="285750"/>
            <a:chOff x="0" y="0"/>
            <a:chExt cx="381000" cy="3810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500" r="0" b="-250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21594" y="4130095"/>
            <a:ext cx="100012" cy="200025"/>
            <a:chOff x="0" y="0"/>
            <a:chExt cx="133350" cy="2667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133350" cy="266700"/>
            </a:xfrm>
            <a:custGeom>
              <a:avLst/>
              <a:gdLst/>
              <a:ahLst/>
              <a:cxnLst/>
              <a:rect r="r" b="b" t="t" l="l"/>
              <a:pathLst>
                <a:path h="266700" w="133350">
                  <a:moveTo>
                    <a:pt x="0" y="0"/>
                  </a:moveTo>
                  <a:lnTo>
                    <a:pt x="133350" y="0"/>
                  </a:lnTo>
                  <a:lnTo>
                    <a:pt x="13335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142" t="0" r="-7142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07306" y="5373108"/>
            <a:ext cx="128588" cy="200025"/>
            <a:chOff x="0" y="0"/>
            <a:chExt cx="171450" cy="2667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171450" cy="266700"/>
            </a:xfrm>
            <a:custGeom>
              <a:avLst/>
              <a:gdLst/>
              <a:ahLst/>
              <a:cxnLst/>
              <a:rect r="r" b="b" t="t" l="l"/>
              <a:pathLst>
                <a:path h="266700" w="171450">
                  <a:moveTo>
                    <a:pt x="0" y="0"/>
                  </a:moveTo>
                  <a:lnTo>
                    <a:pt x="171450" y="0"/>
                  </a:lnTo>
                  <a:lnTo>
                    <a:pt x="17145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5555" t="0" r="-5555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43000" y="2425120"/>
            <a:ext cx="9001125" cy="833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How to Apply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43000" y="6887583"/>
            <a:ext cx="8572500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VinFast Digital Retail is an equal opportunity employer.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144250" y="2684677"/>
            <a:ext cx="4350544" cy="709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0A1F4D"/>
                </a:solidFill>
                <a:latin typeface="Inter Bold"/>
                <a:ea typeface="Inter Bold"/>
                <a:cs typeface="Inter Bold"/>
                <a:sym typeface="Inter Bold"/>
              </a:rPr>
              <a:t>Spot Scams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858500" y="4070564"/>
            <a:ext cx="6429375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A1F4D"/>
                </a:solidFill>
                <a:latin typeface="Inter Bold"/>
                <a:ea typeface="Inter Bold"/>
                <a:cs typeface="Inter Bold"/>
                <a:sym typeface="Inter Bold"/>
              </a:rPr>
              <a:t>No Fees:</a:t>
            </a:r>
            <a:r>
              <a:rPr lang="en-US" sz="247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 Real applications never ask for money.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858500" y="5270714"/>
            <a:ext cx="6429375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A1F4D"/>
                </a:solidFill>
                <a:latin typeface="Inter Bold"/>
                <a:ea typeface="Inter Bold"/>
                <a:cs typeface="Inter Bold"/>
                <a:sym typeface="Inter Bold"/>
              </a:rPr>
              <a:t>No Details:</a:t>
            </a:r>
            <a:r>
              <a:rPr lang="en-US" sz="247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 Never share bank details or codes.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858500" y="6470864"/>
            <a:ext cx="74295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A1F4D"/>
                </a:solidFill>
                <a:latin typeface="Inter Bold"/>
                <a:ea typeface="Inter Bold"/>
                <a:cs typeface="Inter Bold"/>
                <a:sym typeface="Inter Bold"/>
              </a:rPr>
              <a:t>Verify:</a:t>
            </a:r>
            <a:r>
              <a:rPr lang="en-US" sz="247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 Check reference numbers match.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885950" y="3934833"/>
            <a:ext cx="496490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Note the Reference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885950" y="4420608"/>
            <a:ext cx="4964906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EEF4FC"/>
                </a:solidFill>
                <a:latin typeface="Inter"/>
                <a:ea typeface="Inter"/>
                <a:cs typeface="Inter"/>
                <a:sym typeface="Inter"/>
              </a:rPr>
              <a:t>Use the exact 5-character code.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885950" y="5177845"/>
            <a:ext cx="451842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Submit Before Deadline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885950" y="5663620"/>
            <a:ext cx="4518422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EEF4FC"/>
                </a:solidFill>
                <a:latin typeface="Inter"/>
                <a:ea typeface="Inter"/>
                <a:cs typeface="Inter"/>
                <a:sym typeface="Inter"/>
              </a:rPr>
              <a:t>Friday, 30 October 2026.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412430" y="160726"/>
            <a:ext cx="1263780" cy="1001176"/>
          </a:xfrm>
          <a:custGeom>
            <a:avLst/>
            <a:gdLst/>
            <a:ahLst/>
            <a:cxnLst/>
            <a:rect r="r" b="b" t="t" l="l"/>
            <a:pathLst>
              <a:path h="1001176" w="1263780">
                <a:moveTo>
                  <a:pt x="0" y="0"/>
                </a:moveTo>
                <a:lnTo>
                  <a:pt x="1263780" y="0"/>
                </a:lnTo>
                <a:lnTo>
                  <a:pt x="1263780" y="1001176"/>
                </a:lnTo>
                <a:lnTo>
                  <a:pt x="0" y="10011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16326405" y="206762"/>
            <a:ext cx="1647197" cy="1065833"/>
            <a:chOff x="0" y="0"/>
            <a:chExt cx="2196263" cy="142111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96263" cy="1421111"/>
            </a:xfrm>
            <a:custGeom>
              <a:avLst/>
              <a:gdLst/>
              <a:ahLst/>
              <a:cxnLst/>
              <a:rect r="r" b="b" t="t" l="l"/>
              <a:pathLst>
                <a:path h="1421111" w="2196263">
                  <a:moveTo>
                    <a:pt x="0" y="0"/>
                  </a:moveTo>
                  <a:lnTo>
                    <a:pt x="2196263" y="0"/>
                  </a:lnTo>
                  <a:lnTo>
                    <a:pt x="2196263" y="1421111"/>
                  </a:lnTo>
                  <a:lnTo>
                    <a:pt x="0" y="14211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 rot="0">
              <a:off x="225008" y="518309"/>
              <a:ext cx="1933154" cy="3977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4"/>
                </a:lnSpc>
              </a:pPr>
              <a:r>
                <a:rPr lang="en-US" sz="1941" spc="-18" b="true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APPLY NOW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673270" y="374127"/>
            <a:ext cx="1829526" cy="385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1"/>
              </a:lnSpc>
            </a:pPr>
            <a:r>
              <a:rPr lang="en-US" b="true" sz="2165" spc="649">
                <a:solidFill>
                  <a:srgbClr val="0B274B"/>
                </a:solidFill>
                <a:latin typeface="Poppins Bold"/>
                <a:ea typeface="Poppins Bold"/>
                <a:cs typeface="Poppins Bold"/>
                <a:sym typeface="Poppins Bold"/>
              </a:rPr>
              <a:t>VINFAST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816707" y="464597"/>
            <a:ext cx="860532" cy="386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</a:pPr>
            <a:r>
              <a:rPr lang="en-US" b="true" sz="2349" spc="-47">
                <a:solidFill>
                  <a:srgbClr val="0B274B"/>
                </a:solidFill>
                <a:latin typeface="Nunito Bold"/>
                <a:ea typeface="Nunito Bold"/>
                <a:cs typeface="Nunito Bold"/>
                <a:sym typeface="Nunito Bold"/>
              </a:rPr>
              <a:t>Home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983235" y="464597"/>
            <a:ext cx="620414" cy="386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</a:pPr>
            <a:r>
              <a:rPr lang="en-US" b="true" sz="2349" spc="-47">
                <a:solidFill>
                  <a:srgbClr val="0B5FFF"/>
                </a:solidFill>
                <a:latin typeface="Nunito Bold"/>
                <a:ea typeface="Nunito Bold"/>
                <a:cs typeface="Nunito Bold"/>
                <a:sym typeface="Nunito Bold"/>
              </a:rPr>
              <a:t>Jobs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968294" y="464597"/>
            <a:ext cx="860840" cy="386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</a:pPr>
            <a:r>
              <a:rPr lang="en-US" sz="2349" spc="-47" b="true">
                <a:solidFill>
                  <a:srgbClr val="0B274B"/>
                </a:solidFill>
                <a:latin typeface="Nunito Bold"/>
                <a:ea typeface="Nunito Bold"/>
                <a:cs typeface="Nunito Bold"/>
                <a:sym typeface="Nunito Bold"/>
              </a:rPr>
              <a:t>Apply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132120" y="464597"/>
            <a:ext cx="890935" cy="386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</a:pPr>
            <a:r>
              <a:rPr lang="en-US" sz="2349" spc="-47" b="true">
                <a:solidFill>
                  <a:srgbClr val="0B274B"/>
                </a:solidFill>
                <a:latin typeface="Nunito Bold"/>
                <a:ea typeface="Nunito Bold"/>
                <a:cs typeface="Nunito Bold"/>
                <a:sym typeface="Nunito Bold"/>
              </a:rPr>
              <a:t>About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0" y="7845232"/>
            <a:ext cx="18288000" cy="2441768"/>
          </a:xfrm>
          <a:custGeom>
            <a:avLst/>
            <a:gdLst/>
            <a:ahLst/>
            <a:cxnLst/>
            <a:rect r="r" b="b" t="t" l="l"/>
            <a:pathLst>
              <a:path h="2441768" w="18288000">
                <a:moveTo>
                  <a:pt x="0" y="0"/>
                </a:moveTo>
                <a:lnTo>
                  <a:pt x="18288000" y="0"/>
                </a:lnTo>
                <a:lnTo>
                  <a:pt x="18288000" y="2441768"/>
                </a:lnTo>
                <a:lnTo>
                  <a:pt x="0" y="24417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044066" y="8148348"/>
            <a:ext cx="1077746" cy="926188"/>
          </a:xfrm>
          <a:custGeom>
            <a:avLst/>
            <a:gdLst/>
            <a:ahLst/>
            <a:cxnLst/>
            <a:rect r="r" b="b" t="t" l="l"/>
            <a:pathLst>
              <a:path h="926188" w="1077746">
                <a:moveTo>
                  <a:pt x="0" y="0"/>
                </a:moveTo>
                <a:lnTo>
                  <a:pt x="1077746" y="0"/>
                </a:lnTo>
                <a:lnTo>
                  <a:pt x="1077746" y="926188"/>
                </a:lnTo>
                <a:lnTo>
                  <a:pt x="0" y="92618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5978122" y="8148348"/>
            <a:ext cx="353635" cy="1532420"/>
          </a:xfrm>
          <a:custGeom>
            <a:avLst/>
            <a:gdLst/>
            <a:ahLst/>
            <a:cxnLst/>
            <a:rect r="r" b="b" t="t" l="l"/>
            <a:pathLst>
              <a:path h="1532420" w="353635">
                <a:moveTo>
                  <a:pt x="0" y="0"/>
                </a:moveTo>
                <a:lnTo>
                  <a:pt x="353635" y="0"/>
                </a:lnTo>
                <a:lnTo>
                  <a:pt x="353635" y="1532420"/>
                </a:lnTo>
                <a:lnTo>
                  <a:pt x="0" y="153242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2293039" y="8148348"/>
            <a:ext cx="370475" cy="1532420"/>
          </a:xfrm>
          <a:custGeom>
            <a:avLst/>
            <a:gdLst/>
            <a:ahLst/>
            <a:cxnLst/>
            <a:rect r="r" b="b" t="t" l="l"/>
            <a:pathLst>
              <a:path h="1532420" w="370475">
                <a:moveTo>
                  <a:pt x="0" y="0"/>
                </a:moveTo>
                <a:lnTo>
                  <a:pt x="370475" y="0"/>
                </a:lnTo>
                <a:lnTo>
                  <a:pt x="370475" y="1532420"/>
                </a:lnTo>
                <a:lnTo>
                  <a:pt x="0" y="15324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6668552" y="8451464"/>
            <a:ext cx="724110" cy="319956"/>
          </a:xfrm>
          <a:custGeom>
            <a:avLst/>
            <a:gdLst/>
            <a:ahLst/>
            <a:cxnLst/>
            <a:rect r="r" b="b" t="t" l="l"/>
            <a:pathLst>
              <a:path h="319956" w="724110">
                <a:moveTo>
                  <a:pt x="0" y="0"/>
                </a:moveTo>
                <a:lnTo>
                  <a:pt x="724111" y="0"/>
                </a:lnTo>
                <a:lnTo>
                  <a:pt x="724111" y="319956"/>
                </a:lnTo>
                <a:lnTo>
                  <a:pt x="0" y="31995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7385067" y="8482353"/>
            <a:ext cx="871418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-3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Jira Project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8083094" y="8451464"/>
            <a:ext cx="724110" cy="319956"/>
          </a:xfrm>
          <a:custGeom>
            <a:avLst/>
            <a:gdLst/>
            <a:ahLst/>
            <a:cxnLst/>
            <a:rect r="r" b="b" t="t" l="l"/>
            <a:pathLst>
              <a:path h="319956" w="724110">
                <a:moveTo>
                  <a:pt x="0" y="0"/>
                </a:moveTo>
                <a:lnTo>
                  <a:pt x="724110" y="0"/>
                </a:lnTo>
                <a:lnTo>
                  <a:pt x="724110" y="319956"/>
                </a:lnTo>
                <a:lnTo>
                  <a:pt x="0" y="31995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6668552" y="8754580"/>
            <a:ext cx="724110" cy="623072"/>
          </a:xfrm>
          <a:custGeom>
            <a:avLst/>
            <a:gdLst/>
            <a:ahLst/>
            <a:cxnLst/>
            <a:rect r="r" b="b" t="t" l="l"/>
            <a:pathLst>
              <a:path h="623072" w="724110">
                <a:moveTo>
                  <a:pt x="0" y="0"/>
                </a:moveTo>
                <a:lnTo>
                  <a:pt x="724111" y="0"/>
                </a:lnTo>
                <a:lnTo>
                  <a:pt x="724111" y="623072"/>
                </a:lnTo>
                <a:lnTo>
                  <a:pt x="0" y="62307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7378569" y="8803821"/>
            <a:ext cx="1521244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-3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GitHub Repository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8790365" y="8754580"/>
            <a:ext cx="353635" cy="319956"/>
          </a:xfrm>
          <a:custGeom>
            <a:avLst/>
            <a:gdLst/>
            <a:ahLst/>
            <a:cxnLst/>
            <a:rect r="r" b="b" t="t" l="l"/>
            <a:pathLst>
              <a:path h="319956" w="353635">
                <a:moveTo>
                  <a:pt x="0" y="0"/>
                </a:moveTo>
                <a:lnTo>
                  <a:pt x="353635" y="0"/>
                </a:lnTo>
                <a:lnTo>
                  <a:pt x="353635" y="319956"/>
                </a:lnTo>
                <a:lnTo>
                  <a:pt x="0" y="31995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6668552" y="9057696"/>
            <a:ext cx="724110" cy="319956"/>
          </a:xfrm>
          <a:custGeom>
            <a:avLst/>
            <a:gdLst/>
            <a:ahLst/>
            <a:cxnLst/>
            <a:rect r="r" b="b" t="t" l="l"/>
            <a:pathLst>
              <a:path h="319956" w="724110">
                <a:moveTo>
                  <a:pt x="0" y="0"/>
                </a:moveTo>
                <a:lnTo>
                  <a:pt x="724111" y="0"/>
                </a:lnTo>
                <a:lnTo>
                  <a:pt x="724111" y="319956"/>
                </a:lnTo>
                <a:lnTo>
                  <a:pt x="0" y="31995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2235925" y="8349853"/>
            <a:ext cx="1435659" cy="283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3"/>
              </a:lnSpc>
            </a:pPr>
            <a:r>
              <a:rPr lang="en-US" b="true" sz="1781" spc="445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VINFAST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230592" y="8660946"/>
            <a:ext cx="1968889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-3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Move Forward Together</a:t>
            </a:r>
          </a:p>
        </p:txBody>
      </p:sp>
      <p:sp>
        <p:nvSpPr>
          <p:cNvPr name="Freeform 54" id="54"/>
          <p:cNvSpPr/>
          <p:nvPr/>
        </p:nvSpPr>
        <p:spPr>
          <a:xfrm flipH="false" flipV="false" rot="0">
            <a:off x="9160044" y="889384"/>
            <a:ext cx="2266796" cy="545036"/>
          </a:xfrm>
          <a:custGeom>
            <a:avLst/>
            <a:gdLst/>
            <a:ahLst/>
            <a:cxnLst/>
            <a:rect r="r" b="b" t="t" l="l"/>
            <a:pathLst>
              <a:path h="545036" w="2266796">
                <a:moveTo>
                  <a:pt x="0" y="0"/>
                </a:moveTo>
                <a:lnTo>
                  <a:pt x="2266796" y="0"/>
                </a:lnTo>
                <a:lnTo>
                  <a:pt x="2266796" y="545036"/>
                </a:lnTo>
                <a:lnTo>
                  <a:pt x="0" y="54503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2368" t="0" r="-7548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DAHXiggozE4</dc:identifier>
  <dcterms:modified xsi:type="dcterms:W3CDTF">2011-08-01T06:04:30Z</dcterms:modified>
  <cp:revision>1</cp:revision>
  <dc:title>VinFast Digital Retail Open Positions.pptx</dc:title>
</cp:coreProperties>
</file>