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8288000"/>
  <p:notesSz cx="6858000" cy="9144000"/>
  <p:embeddedFontLst>
    <p:embeddedFont>
      <p:font typeface="Inter Bold" charset="1" panose="02000503000000020004"/>
      <p:regular r:id="rId10"/>
    </p:embeddedFont>
    <p:embeddedFont>
      <p:font typeface="Inter" charset="1" panose="02000503000000020004"/>
      <p:regular r:id="rId11"/>
    </p:embeddedFont>
    <p:embeddedFont>
      <p:font typeface="Poppins Bold" charset="1" panose="00000800000000000000"/>
      <p:regular r:id="rId12"/>
    </p:embeddedFont>
    <p:embeddedFont>
      <p:font typeface="Nunito Bold" charset="1" panose="00000000000000000000"/>
      <p:regular r:id="rId13"/>
    </p:embeddedFont>
    <p:embeddedFont>
      <p:font typeface="Proxima Nova Bold" charset="1" panose="02000506030000020004"/>
      <p:regular r:id="rId14"/>
    </p:embeddedFont>
    <p:embeddedFont>
      <p:font typeface="Nunito" charset="1" panose="00000000000000000000"/>
      <p:regular r:id="rId15"/>
    </p:embeddedFont>
    <p:embeddedFont>
      <p:font typeface="Open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4.png" Type="http://schemas.openxmlformats.org/officeDocument/2006/relationships/image"/><Relationship Id="rId18" Target="../media/image7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050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6668" y="9347617"/>
            <a:ext cx="5872162" cy="742950"/>
            <a:chOff x="0" y="0"/>
            <a:chExt cx="7829550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29550" cy="990600"/>
            </a:xfrm>
            <a:custGeom>
              <a:avLst/>
              <a:gdLst/>
              <a:ahLst/>
              <a:cxnLst/>
              <a:rect r="r" b="b" t="t" l="l"/>
              <a:pathLst>
                <a:path h="990600" w="78295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677150" y="0"/>
                  </a:lnTo>
                  <a:cubicBezTo>
                    <a:pt x="7761351" y="0"/>
                    <a:pt x="7829550" y="68199"/>
                    <a:pt x="7829550" y="152400"/>
                  </a:cubicBezTo>
                  <a:lnTo>
                    <a:pt x="7829550" y="838200"/>
                  </a:lnTo>
                  <a:cubicBezTo>
                    <a:pt x="7829550" y="922401"/>
                    <a:pt x="7761351" y="990600"/>
                    <a:pt x="7677150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0B5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9568" y="9576217"/>
            <a:ext cx="257175" cy="285750"/>
            <a:chOff x="0" y="0"/>
            <a:chExt cx="342900" cy="381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93054" y="5539435"/>
            <a:ext cx="8558085" cy="4551132"/>
            <a:chOff x="0" y="0"/>
            <a:chExt cx="24790575" cy="13183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790575" cy="13183460"/>
            </a:xfrm>
            <a:custGeom>
              <a:avLst/>
              <a:gdLst/>
              <a:ahLst/>
              <a:cxnLst/>
              <a:rect r="r" b="b" t="t" l="l"/>
              <a:pathLst>
                <a:path h="13183460" w="24790575">
                  <a:moveTo>
                    <a:pt x="0" y="0"/>
                  </a:moveTo>
                  <a:lnTo>
                    <a:pt x="24790575" y="0"/>
                  </a:lnTo>
                  <a:lnTo>
                    <a:pt x="24790575" y="13183460"/>
                  </a:lnTo>
                  <a:lnTo>
                    <a:pt x="0" y="13183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34" r="0" b="-293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24352" y="4239591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01328" y="4901627"/>
            <a:ext cx="2384229" cy="521550"/>
          </a:xfrm>
          <a:custGeom>
            <a:avLst/>
            <a:gdLst/>
            <a:ahLst/>
            <a:cxnLst/>
            <a:rect r="r" b="b" t="t" l="l"/>
            <a:pathLst>
              <a:path h="521550" w="2384229">
                <a:moveTo>
                  <a:pt x="0" y="0"/>
                </a:moveTo>
                <a:lnTo>
                  <a:pt x="2384229" y="0"/>
                </a:lnTo>
                <a:lnTo>
                  <a:pt x="2384229" y="521550"/>
                </a:lnTo>
                <a:lnTo>
                  <a:pt x="0" y="521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44211" y="10836382"/>
            <a:ext cx="12145676" cy="1479211"/>
            <a:chOff x="0" y="0"/>
            <a:chExt cx="2499110" cy="3043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9110" cy="304364"/>
            </a:xfrm>
            <a:custGeom>
              <a:avLst/>
              <a:gdLst/>
              <a:ahLst/>
              <a:cxnLst/>
              <a:rect r="r" b="b" t="t" l="l"/>
              <a:pathLst>
                <a:path h="304364" w="2499110">
                  <a:moveTo>
                    <a:pt x="12450" y="0"/>
                  </a:moveTo>
                  <a:lnTo>
                    <a:pt x="2486661" y="0"/>
                  </a:lnTo>
                  <a:cubicBezTo>
                    <a:pt x="2493536" y="0"/>
                    <a:pt x="2499110" y="5574"/>
                    <a:pt x="2499110" y="12450"/>
                  </a:cubicBezTo>
                  <a:lnTo>
                    <a:pt x="2499110" y="291915"/>
                  </a:lnTo>
                  <a:cubicBezTo>
                    <a:pt x="2499110" y="295217"/>
                    <a:pt x="2497799" y="298383"/>
                    <a:pt x="2495464" y="300718"/>
                  </a:cubicBezTo>
                  <a:cubicBezTo>
                    <a:pt x="2493129" y="303053"/>
                    <a:pt x="2489963" y="304364"/>
                    <a:pt x="2486661" y="304364"/>
                  </a:cubicBezTo>
                  <a:lnTo>
                    <a:pt x="12450" y="304364"/>
                  </a:lnTo>
                  <a:cubicBezTo>
                    <a:pt x="9148" y="304364"/>
                    <a:pt x="5981" y="303053"/>
                    <a:pt x="3646" y="300718"/>
                  </a:cubicBezTo>
                  <a:cubicBezTo>
                    <a:pt x="1312" y="298383"/>
                    <a:pt x="0" y="295217"/>
                    <a:pt x="0" y="291915"/>
                  </a:cubicBezTo>
                  <a:lnTo>
                    <a:pt x="0" y="12450"/>
                  </a:lnTo>
                  <a:cubicBezTo>
                    <a:pt x="0" y="9148"/>
                    <a:pt x="1312" y="5981"/>
                    <a:pt x="3646" y="3646"/>
                  </a:cubicBezTo>
                  <a:cubicBezTo>
                    <a:pt x="5981" y="1312"/>
                    <a:pt x="9148" y="0"/>
                    <a:pt x="124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99110" cy="342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4211" y="12653730"/>
            <a:ext cx="12145676" cy="1426179"/>
            <a:chOff x="0" y="0"/>
            <a:chExt cx="2499110" cy="2934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9110" cy="293452"/>
            </a:xfrm>
            <a:custGeom>
              <a:avLst/>
              <a:gdLst/>
              <a:ahLst/>
              <a:cxnLst/>
              <a:rect r="r" b="b" t="t" l="l"/>
              <a:pathLst>
                <a:path h="293452" w="2499110">
                  <a:moveTo>
                    <a:pt x="12450" y="0"/>
                  </a:moveTo>
                  <a:lnTo>
                    <a:pt x="2486661" y="0"/>
                  </a:lnTo>
                  <a:cubicBezTo>
                    <a:pt x="2493536" y="0"/>
                    <a:pt x="2499110" y="5574"/>
                    <a:pt x="2499110" y="12450"/>
                  </a:cubicBezTo>
                  <a:lnTo>
                    <a:pt x="2499110" y="281003"/>
                  </a:lnTo>
                  <a:cubicBezTo>
                    <a:pt x="2499110" y="284305"/>
                    <a:pt x="2497799" y="287471"/>
                    <a:pt x="2495464" y="289806"/>
                  </a:cubicBezTo>
                  <a:cubicBezTo>
                    <a:pt x="2493129" y="292141"/>
                    <a:pt x="2489963" y="293452"/>
                    <a:pt x="2486661" y="293452"/>
                  </a:cubicBezTo>
                  <a:lnTo>
                    <a:pt x="12450" y="293452"/>
                  </a:lnTo>
                  <a:cubicBezTo>
                    <a:pt x="5574" y="293452"/>
                    <a:pt x="0" y="287879"/>
                    <a:pt x="0" y="281003"/>
                  </a:cubicBezTo>
                  <a:lnTo>
                    <a:pt x="0" y="12450"/>
                  </a:lnTo>
                  <a:cubicBezTo>
                    <a:pt x="0" y="9148"/>
                    <a:pt x="1312" y="5981"/>
                    <a:pt x="3646" y="3646"/>
                  </a:cubicBezTo>
                  <a:cubicBezTo>
                    <a:pt x="5981" y="1312"/>
                    <a:pt x="9148" y="0"/>
                    <a:pt x="124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99110" cy="331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49568" y="10776367"/>
            <a:ext cx="4101570" cy="3303543"/>
            <a:chOff x="0" y="0"/>
            <a:chExt cx="815065" cy="656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5065" cy="656481"/>
            </a:xfrm>
            <a:custGeom>
              <a:avLst/>
              <a:gdLst/>
              <a:ahLst/>
              <a:cxnLst/>
              <a:rect r="r" b="b" t="t" l="l"/>
              <a:pathLst>
                <a:path h="656481" w="815065">
                  <a:moveTo>
                    <a:pt x="36866" y="0"/>
                  </a:moveTo>
                  <a:lnTo>
                    <a:pt x="778198" y="0"/>
                  </a:lnTo>
                  <a:cubicBezTo>
                    <a:pt x="787976" y="0"/>
                    <a:pt x="797353" y="3884"/>
                    <a:pt x="804267" y="10798"/>
                  </a:cubicBezTo>
                  <a:cubicBezTo>
                    <a:pt x="811181" y="17712"/>
                    <a:pt x="815065" y="27089"/>
                    <a:pt x="815065" y="36866"/>
                  </a:cubicBezTo>
                  <a:lnTo>
                    <a:pt x="815065" y="619614"/>
                  </a:lnTo>
                  <a:cubicBezTo>
                    <a:pt x="815065" y="629392"/>
                    <a:pt x="811181" y="638769"/>
                    <a:pt x="804267" y="645683"/>
                  </a:cubicBezTo>
                  <a:cubicBezTo>
                    <a:pt x="797353" y="652596"/>
                    <a:pt x="787976" y="656481"/>
                    <a:pt x="778198" y="656481"/>
                  </a:cubicBezTo>
                  <a:lnTo>
                    <a:pt x="36866" y="656481"/>
                  </a:lnTo>
                  <a:cubicBezTo>
                    <a:pt x="16506" y="656481"/>
                    <a:pt x="0" y="639975"/>
                    <a:pt x="0" y="619614"/>
                  </a:cubicBezTo>
                  <a:lnTo>
                    <a:pt x="0" y="36866"/>
                  </a:lnTo>
                  <a:cubicBezTo>
                    <a:pt x="0" y="27089"/>
                    <a:pt x="3884" y="17712"/>
                    <a:pt x="10798" y="10798"/>
                  </a:cubicBezTo>
                  <a:cubicBezTo>
                    <a:pt x="17712" y="3884"/>
                    <a:pt x="27089" y="0"/>
                    <a:pt x="36866" y="0"/>
                  </a:cubicBezTo>
                  <a:close/>
                </a:path>
              </a:pathLst>
            </a:custGeom>
            <a:solidFill>
              <a:srgbClr val="FFF3E0"/>
            </a:solidFill>
            <a:ln w="38100" cap="rnd">
              <a:solidFill>
                <a:srgbClr val="BC9B1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5065" cy="694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8928" y="12953767"/>
            <a:ext cx="2768472" cy="794355"/>
            <a:chOff x="0" y="0"/>
            <a:chExt cx="729145" cy="2092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9145" cy="209213"/>
            </a:xfrm>
            <a:custGeom>
              <a:avLst/>
              <a:gdLst/>
              <a:ahLst/>
              <a:cxnLst/>
              <a:rect r="r" b="b" t="t" l="l"/>
              <a:pathLst>
                <a:path h="209213" w="729145">
                  <a:moveTo>
                    <a:pt x="525945" y="0"/>
                  </a:moveTo>
                  <a:cubicBezTo>
                    <a:pt x="638169" y="0"/>
                    <a:pt x="729145" y="46834"/>
                    <a:pt x="729145" y="104606"/>
                  </a:cubicBezTo>
                  <a:cubicBezTo>
                    <a:pt x="729145" y="162379"/>
                    <a:pt x="638169" y="209213"/>
                    <a:pt x="525945" y="209213"/>
                  </a:cubicBezTo>
                  <a:lnTo>
                    <a:pt x="203200" y="209213"/>
                  </a:lnTo>
                  <a:cubicBezTo>
                    <a:pt x="90976" y="209213"/>
                    <a:pt x="0" y="162379"/>
                    <a:pt x="0" y="104606"/>
                  </a:cubicBezTo>
                  <a:cubicBezTo>
                    <a:pt x="0" y="468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29145" cy="2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48577" y="12953767"/>
            <a:ext cx="2768472" cy="794355"/>
            <a:chOff x="0" y="0"/>
            <a:chExt cx="729145" cy="2092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9145" cy="209213"/>
            </a:xfrm>
            <a:custGeom>
              <a:avLst/>
              <a:gdLst/>
              <a:ahLst/>
              <a:cxnLst/>
              <a:rect r="r" b="b" t="t" l="l"/>
              <a:pathLst>
                <a:path h="209213" w="729145">
                  <a:moveTo>
                    <a:pt x="525945" y="0"/>
                  </a:moveTo>
                  <a:cubicBezTo>
                    <a:pt x="638169" y="0"/>
                    <a:pt x="729145" y="46834"/>
                    <a:pt x="729145" y="104606"/>
                  </a:cubicBezTo>
                  <a:cubicBezTo>
                    <a:pt x="729145" y="162379"/>
                    <a:pt x="638169" y="209213"/>
                    <a:pt x="525945" y="209213"/>
                  </a:cubicBezTo>
                  <a:lnTo>
                    <a:pt x="203200" y="209213"/>
                  </a:lnTo>
                  <a:cubicBezTo>
                    <a:pt x="90976" y="209213"/>
                    <a:pt x="0" y="162379"/>
                    <a:pt x="0" y="104606"/>
                  </a:cubicBezTo>
                  <a:cubicBezTo>
                    <a:pt x="0" y="468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29145" cy="2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52667" y="12953767"/>
            <a:ext cx="2768472" cy="794355"/>
            <a:chOff x="0" y="0"/>
            <a:chExt cx="729145" cy="2092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9145" cy="209213"/>
            </a:xfrm>
            <a:custGeom>
              <a:avLst/>
              <a:gdLst/>
              <a:ahLst/>
              <a:cxnLst/>
              <a:rect r="r" b="b" t="t" l="l"/>
              <a:pathLst>
                <a:path h="209213" w="729145">
                  <a:moveTo>
                    <a:pt x="525945" y="0"/>
                  </a:moveTo>
                  <a:cubicBezTo>
                    <a:pt x="638169" y="0"/>
                    <a:pt x="729145" y="46834"/>
                    <a:pt x="729145" y="104606"/>
                  </a:cubicBezTo>
                  <a:cubicBezTo>
                    <a:pt x="729145" y="162379"/>
                    <a:pt x="638169" y="209213"/>
                    <a:pt x="525945" y="209213"/>
                  </a:cubicBezTo>
                  <a:lnTo>
                    <a:pt x="203200" y="209213"/>
                  </a:lnTo>
                  <a:cubicBezTo>
                    <a:pt x="90976" y="209213"/>
                    <a:pt x="0" y="162379"/>
                    <a:pt x="0" y="104606"/>
                  </a:cubicBezTo>
                  <a:cubicBezTo>
                    <a:pt x="0" y="468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29145" cy="2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68789" y="12985517"/>
            <a:ext cx="2768472" cy="794355"/>
            <a:chOff x="0" y="0"/>
            <a:chExt cx="729145" cy="2092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9145" cy="209213"/>
            </a:xfrm>
            <a:custGeom>
              <a:avLst/>
              <a:gdLst/>
              <a:ahLst/>
              <a:cxnLst/>
              <a:rect r="r" b="b" t="t" l="l"/>
              <a:pathLst>
                <a:path h="209213" w="729145">
                  <a:moveTo>
                    <a:pt x="525945" y="0"/>
                  </a:moveTo>
                  <a:cubicBezTo>
                    <a:pt x="638169" y="0"/>
                    <a:pt x="729145" y="46834"/>
                    <a:pt x="729145" y="104606"/>
                  </a:cubicBezTo>
                  <a:cubicBezTo>
                    <a:pt x="729145" y="162379"/>
                    <a:pt x="638169" y="209213"/>
                    <a:pt x="525945" y="209213"/>
                  </a:cubicBezTo>
                  <a:lnTo>
                    <a:pt x="203200" y="209213"/>
                  </a:lnTo>
                  <a:cubicBezTo>
                    <a:pt x="90976" y="209213"/>
                    <a:pt x="0" y="162379"/>
                    <a:pt x="0" y="104606"/>
                  </a:cubicBezTo>
                  <a:cubicBezTo>
                    <a:pt x="0" y="468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29145" cy="2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3636595" y="10961446"/>
            <a:ext cx="401072" cy="401072"/>
          </a:xfrm>
          <a:custGeom>
            <a:avLst/>
            <a:gdLst/>
            <a:ahLst/>
            <a:cxnLst/>
            <a:rect r="r" b="b" t="t" l="l"/>
            <a:pathLst>
              <a:path h="401072" w="401072">
                <a:moveTo>
                  <a:pt x="0" y="0"/>
                </a:moveTo>
                <a:lnTo>
                  <a:pt x="401072" y="0"/>
                </a:lnTo>
                <a:lnTo>
                  <a:pt x="401072" y="401072"/>
                </a:lnTo>
                <a:lnTo>
                  <a:pt x="0" y="401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52166" y="5991622"/>
            <a:ext cx="24979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55FF"/>
                </a:solidFill>
                <a:latin typeface="Inter Bold"/>
                <a:ea typeface="Inter Bold"/>
                <a:cs typeface="Inter Bold"/>
                <a:sym typeface="Inter Bold"/>
              </a:rPr>
              <a:t>CAREERS AT VINFAST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0155" y="6439297"/>
            <a:ext cx="5927824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6400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Open Positions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0155" y="7580878"/>
            <a:ext cx="637981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Build the future of digital retail with us.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0155" y="8164928"/>
            <a:ext cx="7864571" cy="7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0B1B4A"/>
                </a:solidFill>
                <a:latin typeface="Inter"/>
                <a:ea typeface="Inter"/>
                <a:cs typeface="Inter"/>
                <a:sym typeface="Inter"/>
              </a:rPr>
              <a:t>Four roles across web development, merchandising, data and customer experience. Ho Chi Minh City / Remote.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57504" y="9576217"/>
            <a:ext cx="47958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Applications close Friday, 09 October 2026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85192" y="4452992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16707" y="44650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83235" y="44650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68294" y="44650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32120" y="44650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7054" y="11005473"/>
            <a:ext cx="219527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About Our Roles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37054" y="11398357"/>
            <a:ext cx="11580048" cy="67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825">
                <a:solidFill>
                  <a:srgbClr val="0B1B4A"/>
                </a:solidFill>
                <a:latin typeface="Inter"/>
                <a:ea typeface="Inter"/>
                <a:cs typeface="Inter"/>
                <a:sym typeface="Inter"/>
              </a:rPr>
              <a:t>Developing</a:t>
            </a:r>
            <a:r>
              <a:rPr lang="en-US" sz="1825">
                <a:solidFill>
                  <a:srgbClr val="0B1B4A"/>
                </a:solidFill>
                <a:latin typeface="Inter"/>
                <a:ea typeface="Inter"/>
                <a:cs typeface="Inter"/>
                <a:sym typeface="Inter"/>
              </a:rPr>
              <a:t>web interfaces, product and catalogue data, sales analytics and customer communication, quoted by reference number, from VF001 to VF004 on the application form.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7899" y="13088953"/>
            <a:ext cx="2390529" cy="53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3"/>
              </a:lnSpc>
            </a:pPr>
            <a:r>
              <a:rPr lang="en-US" b="true" sz="1435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VF001: Software &amp; Web Development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357600" y="13061331"/>
            <a:ext cx="2350425" cy="53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</a:pPr>
            <a:r>
              <a:rPr lang="en-US" b="true" sz="1411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VF002: Product &amp; Retail Merchandising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95542" y="13189019"/>
            <a:ext cx="249793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b="true" sz="1500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VF003: Data &amp; Analytics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87768" y="13075437"/>
            <a:ext cx="2195577" cy="53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</a:pPr>
            <a:r>
              <a:rPr lang="en-US" b="true" sz="1421">
                <a:solidFill>
                  <a:srgbClr val="0B5FFF"/>
                </a:solidFill>
                <a:latin typeface="Inter Bold"/>
                <a:ea typeface="Inter Bold"/>
                <a:cs typeface="Inter Bold"/>
                <a:sym typeface="Inter Bold"/>
              </a:rPr>
              <a:t>VF004: Customer Service &amp; Operations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122149" y="11004182"/>
            <a:ext cx="3041963" cy="31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2070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Spot recruitment scams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14481" y="11194100"/>
            <a:ext cx="3650713" cy="275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3"/>
              </a:lnSpc>
            </a:pPr>
            <a:r>
              <a:rPr lang="en-US" sz="1475">
                <a:solidFill>
                  <a:srgbClr val="87680B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</a:p>
          <a:p>
            <a:pPr algn="l" marL="318562" indent="-159281" lvl="1">
              <a:lnSpc>
                <a:spcPts val="2213"/>
              </a:lnSpc>
              <a:buFont typeface="Arial"/>
              <a:buChar char="•"/>
            </a:pPr>
            <a:r>
              <a:rPr lang="en-US" sz="1475">
                <a:solidFill>
                  <a:srgbClr val="87680B"/>
                </a:solidFill>
                <a:latin typeface="Inter"/>
                <a:ea typeface="Inter"/>
                <a:cs typeface="Inter"/>
                <a:sym typeface="Inter"/>
              </a:rPr>
              <a:t>A real application never asks for a fee.</a:t>
            </a:r>
          </a:p>
          <a:p>
            <a:pPr algn="l" marL="318562" indent="-159281" lvl="1">
              <a:lnSpc>
                <a:spcPts val="2213"/>
              </a:lnSpc>
              <a:buFont typeface="Arial"/>
              <a:buChar char="•"/>
            </a:pPr>
            <a:r>
              <a:rPr lang="en-US" sz="1475">
                <a:solidFill>
                  <a:srgbClr val="87680B"/>
                </a:solidFill>
                <a:latin typeface="Inter"/>
                <a:ea typeface="Inter"/>
                <a:cs typeface="Inter"/>
                <a:sym typeface="Inter"/>
              </a:rPr>
              <a:t>Never share bank details or one-time codes in an application.</a:t>
            </a:r>
          </a:p>
          <a:p>
            <a:pPr algn="l" marL="318562" indent="-159281" lvl="1">
              <a:lnSpc>
                <a:spcPts val="2213"/>
              </a:lnSpc>
              <a:buFont typeface="Arial"/>
              <a:buChar char="•"/>
            </a:pPr>
            <a:r>
              <a:rPr lang="en-US" sz="1475">
                <a:solidFill>
                  <a:srgbClr val="87680B"/>
                </a:solidFill>
                <a:latin typeface="Inter"/>
                <a:ea typeface="Inter"/>
                <a:cs typeface="Inter"/>
                <a:sym typeface="Inter"/>
              </a:rPr>
              <a:t>Check that the reference number matches the job listed on this page.</a:t>
            </a:r>
          </a:p>
          <a:p>
            <a:pPr algn="l" marL="318562" indent="-159281" lvl="1">
              <a:lnSpc>
                <a:spcPts val="2213"/>
              </a:lnSpc>
              <a:buFont typeface="Arial"/>
              <a:buChar char="•"/>
            </a:pPr>
            <a:r>
              <a:rPr lang="en-US" sz="1475">
                <a:solidFill>
                  <a:srgbClr val="87680B"/>
                </a:solidFill>
                <a:latin typeface="Inter"/>
                <a:ea typeface="Inter"/>
                <a:cs typeface="Inter"/>
                <a:sym typeface="Inter"/>
              </a:rPr>
              <a:t>Report suspicious messages using the email in the footer.</a:t>
            </a:r>
          </a:p>
          <a:p>
            <a:pPr algn="l">
              <a:lnSpc>
                <a:spcPts val="2213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916668" y="10395367"/>
            <a:ext cx="1300639" cy="2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  <a:spcBef>
                <a:spcPct val="0"/>
              </a:spcBef>
            </a:pPr>
            <a:r>
              <a:rPr lang="en-US" b="true" sz="1649" spc="-3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Home  &gt;  Jobs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6004421" y="3889436"/>
            <a:ext cx="1254879" cy="1533741"/>
          </a:xfrm>
          <a:custGeom>
            <a:avLst/>
            <a:gdLst/>
            <a:ahLst/>
            <a:cxnLst/>
            <a:rect r="r" b="b" t="t" l="l"/>
            <a:pathLst>
              <a:path h="1533741" w="1254879">
                <a:moveTo>
                  <a:pt x="0" y="0"/>
                </a:moveTo>
                <a:lnTo>
                  <a:pt x="1254879" y="0"/>
                </a:lnTo>
                <a:lnTo>
                  <a:pt x="1254879" y="1533741"/>
                </a:lnTo>
                <a:lnTo>
                  <a:pt x="0" y="15337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88702" y="1357159"/>
            <a:ext cx="9310596" cy="16721684"/>
            <a:chOff x="0" y="0"/>
            <a:chExt cx="11582400" cy="20801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82400" cy="20801808"/>
            </a:xfrm>
            <a:custGeom>
              <a:avLst/>
              <a:gdLst/>
              <a:ahLst/>
              <a:cxnLst/>
              <a:rect r="r" b="b" t="t" l="l"/>
              <a:pathLst>
                <a:path h="20801808" w="11582400">
                  <a:moveTo>
                    <a:pt x="0" y="866742"/>
                  </a:moveTo>
                  <a:cubicBezTo>
                    <a:pt x="0" y="388108"/>
                    <a:pt x="102362" y="0"/>
                    <a:pt x="228600" y="0"/>
                  </a:cubicBezTo>
                  <a:lnTo>
                    <a:pt x="11353800" y="0"/>
                  </a:lnTo>
                  <a:cubicBezTo>
                    <a:pt x="11480038" y="0"/>
                    <a:pt x="11582400" y="388108"/>
                    <a:pt x="11582400" y="866742"/>
                  </a:cubicBezTo>
                  <a:lnTo>
                    <a:pt x="11582400" y="19935065"/>
                  </a:lnTo>
                  <a:cubicBezTo>
                    <a:pt x="11582400" y="20413700"/>
                    <a:pt x="11480038" y="20801808"/>
                    <a:pt x="11353800" y="20801808"/>
                  </a:cubicBezTo>
                  <a:lnTo>
                    <a:pt x="228600" y="20801808"/>
                  </a:lnTo>
                  <a:cubicBezTo>
                    <a:pt x="102362" y="20801808"/>
                    <a:pt x="0" y="20413700"/>
                    <a:pt x="0" y="1993506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88702" y="256152"/>
            <a:ext cx="1147884" cy="909363"/>
          </a:xfrm>
          <a:custGeom>
            <a:avLst/>
            <a:gdLst/>
            <a:ahLst/>
            <a:cxnLst/>
            <a:rect r="r" b="b" t="t" l="l"/>
            <a:pathLst>
              <a:path h="909363" w="1147884">
                <a:moveTo>
                  <a:pt x="0" y="0"/>
                </a:moveTo>
                <a:lnTo>
                  <a:pt x="1147884" y="0"/>
                </a:lnTo>
                <a:lnTo>
                  <a:pt x="1147884" y="909363"/>
                </a:lnTo>
                <a:lnTo>
                  <a:pt x="0" y="909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432612" y="1585371"/>
            <a:ext cx="926096" cy="599239"/>
            <a:chOff x="0" y="0"/>
            <a:chExt cx="1234795" cy="7989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4795" cy="798985"/>
            </a:xfrm>
            <a:custGeom>
              <a:avLst/>
              <a:gdLst/>
              <a:ahLst/>
              <a:cxnLst/>
              <a:rect r="r" b="b" t="t" l="l"/>
              <a:pathLst>
                <a:path h="798985" w="1234795">
                  <a:moveTo>
                    <a:pt x="0" y="0"/>
                  </a:moveTo>
                  <a:lnTo>
                    <a:pt x="1234795" y="0"/>
                  </a:lnTo>
                  <a:lnTo>
                    <a:pt x="1234795" y="798985"/>
                  </a:lnTo>
                  <a:lnTo>
                    <a:pt x="0" y="79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6506" y="297947"/>
              <a:ext cx="1086869" cy="217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19"/>
                </a:lnSpc>
              </a:pPr>
              <a:r>
                <a:rPr lang="en-US" sz="1091" spc="-1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9438" y="1725678"/>
            <a:ext cx="1122878" cy="318625"/>
            <a:chOff x="0" y="0"/>
            <a:chExt cx="635000" cy="1801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180186"/>
            </a:xfrm>
            <a:custGeom>
              <a:avLst/>
              <a:gdLst/>
              <a:ahLst/>
              <a:cxnLst/>
              <a:rect r="r" b="b" t="t" l="l"/>
              <a:pathLst>
                <a:path h="180186" w="635000">
                  <a:moveTo>
                    <a:pt x="90093" y="0"/>
                  </a:moveTo>
                  <a:lnTo>
                    <a:pt x="544907" y="0"/>
                  </a:lnTo>
                  <a:cubicBezTo>
                    <a:pt x="594664" y="0"/>
                    <a:pt x="635000" y="40336"/>
                    <a:pt x="635000" y="90093"/>
                  </a:cubicBezTo>
                  <a:lnTo>
                    <a:pt x="635000" y="90093"/>
                  </a:lnTo>
                  <a:cubicBezTo>
                    <a:pt x="635000" y="113987"/>
                    <a:pt x="625508" y="136903"/>
                    <a:pt x="608612" y="153798"/>
                  </a:cubicBezTo>
                  <a:cubicBezTo>
                    <a:pt x="591717" y="170694"/>
                    <a:pt x="568801" y="180186"/>
                    <a:pt x="544907" y="180186"/>
                  </a:cubicBezTo>
                  <a:lnTo>
                    <a:pt x="90093" y="180186"/>
                  </a:lnTo>
                  <a:cubicBezTo>
                    <a:pt x="40336" y="180186"/>
                    <a:pt x="0" y="139850"/>
                    <a:pt x="0" y="90093"/>
                  </a:cubicBezTo>
                  <a:lnTo>
                    <a:pt x="0" y="90093"/>
                  </a:lnTo>
                  <a:cubicBezTo>
                    <a:pt x="0" y="40336"/>
                    <a:pt x="40336" y="0"/>
                    <a:pt x="90093" y="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35000" cy="189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37036" y="2251703"/>
            <a:ext cx="8808711" cy="1173324"/>
            <a:chOff x="0" y="0"/>
            <a:chExt cx="1812492" cy="241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2492" cy="241425"/>
            </a:xfrm>
            <a:custGeom>
              <a:avLst/>
              <a:gdLst/>
              <a:ahLst/>
              <a:cxnLst/>
              <a:rect r="r" b="b" t="t" l="l"/>
              <a:pathLst>
                <a:path h="241425" w="1812492">
                  <a:moveTo>
                    <a:pt x="17166" y="0"/>
                  </a:moveTo>
                  <a:lnTo>
                    <a:pt x="1795326" y="0"/>
                  </a:lnTo>
                  <a:cubicBezTo>
                    <a:pt x="1799879" y="0"/>
                    <a:pt x="1804245" y="1809"/>
                    <a:pt x="1807464" y="5028"/>
                  </a:cubicBezTo>
                  <a:cubicBezTo>
                    <a:pt x="1810683" y="8247"/>
                    <a:pt x="1812492" y="12613"/>
                    <a:pt x="1812492" y="17166"/>
                  </a:cubicBezTo>
                  <a:lnTo>
                    <a:pt x="1812492" y="224259"/>
                  </a:lnTo>
                  <a:cubicBezTo>
                    <a:pt x="1812492" y="228812"/>
                    <a:pt x="1810683" y="233178"/>
                    <a:pt x="1807464" y="236397"/>
                  </a:cubicBezTo>
                  <a:cubicBezTo>
                    <a:pt x="1804245" y="239616"/>
                    <a:pt x="1799879" y="241425"/>
                    <a:pt x="1795326" y="241425"/>
                  </a:cubicBezTo>
                  <a:lnTo>
                    <a:pt x="17166" y="241425"/>
                  </a:lnTo>
                  <a:cubicBezTo>
                    <a:pt x="12613" y="241425"/>
                    <a:pt x="8247" y="239616"/>
                    <a:pt x="5028" y="236397"/>
                  </a:cubicBezTo>
                  <a:cubicBezTo>
                    <a:pt x="1809" y="233178"/>
                    <a:pt x="0" y="228812"/>
                    <a:pt x="0" y="224259"/>
                  </a:cubicBezTo>
                  <a:lnTo>
                    <a:pt x="0" y="17166"/>
                  </a:lnTo>
                  <a:cubicBezTo>
                    <a:pt x="0" y="12613"/>
                    <a:pt x="1809" y="8247"/>
                    <a:pt x="5028" y="5028"/>
                  </a:cubicBezTo>
                  <a:cubicBezTo>
                    <a:pt x="8247" y="1809"/>
                    <a:pt x="12613" y="0"/>
                    <a:pt x="17166" y="0"/>
                  </a:cubicBezTo>
                  <a:close/>
                </a:path>
              </a:pathLst>
            </a:custGeom>
            <a:solidFill>
              <a:srgbClr val="DBE5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12492" cy="27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39644" y="3585203"/>
            <a:ext cx="8808711" cy="1173324"/>
            <a:chOff x="0" y="0"/>
            <a:chExt cx="1812492" cy="241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2492" cy="241425"/>
            </a:xfrm>
            <a:custGeom>
              <a:avLst/>
              <a:gdLst/>
              <a:ahLst/>
              <a:cxnLst/>
              <a:rect r="r" b="b" t="t" l="l"/>
              <a:pathLst>
                <a:path h="241425" w="1812492">
                  <a:moveTo>
                    <a:pt x="17166" y="0"/>
                  </a:moveTo>
                  <a:lnTo>
                    <a:pt x="1795326" y="0"/>
                  </a:lnTo>
                  <a:cubicBezTo>
                    <a:pt x="1799879" y="0"/>
                    <a:pt x="1804245" y="1809"/>
                    <a:pt x="1807464" y="5028"/>
                  </a:cubicBezTo>
                  <a:cubicBezTo>
                    <a:pt x="1810683" y="8247"/>
                    <a:pt x="1812492" y="12613"/>
                    <a:pt x="1812492" y="17166"/>
                  </a:cubicBezTo>
                  <a:lnTo>
                    <a:pt x="1812492" y="224259"/>
                  </a:lnTo>
                  <a:cubicBezTo>
                    <a:pt x="1812492" y="228812"/>
                    <a:pt x="1810683" y="233178"/>
                    <a:pt x="1807464" y="236397"/>
                  </a:cubicBezTo>
                  <a:cubicBezTo>
                    <a:pt x="1804245" y="239616"/>
                    <a:pt x="1799879" y="241425"/>
                    <a:pt x="1795326" y="241425"/>
                  </a:cubicBezTo>
                  <a:lnTo>
                    <a:pt x="17166" y="241425"/>
                  </a:lnTo>
                  <a:cubicBezTo>
                    <a:pt x="12613" y="241425"/>
                    <a:pt x="8247" y="239616"/>
                    <a:pt x="5028" y="236397"/>
                  </a:cubicBezTo>
                  <a:cubicBezTo>
                    <a:pt x="1809" y="233178"/>
                    <a:pt x="0" y="228812"/>
                    <a:pt x="0" y="224259"/>
                  </a:cubicBezTo>
                  <a:lnTo>
                    <a:pt x="0" y="17166"/>
                  </a:lnTo>
                  <a:cubicBezTo>
                    <a:pt x="0" y="12613"/>
                    <a:pt x="1809" y="8247"/>
                    <a:pt x="5028" y="5028"/>
                  </a:cubicBezTo>
                  <a:cubicBezTo>
                    <a:pt x="8247" y="1809"/>
                    <a:pt x="12613" y="0"/>
                    <a:pt x="17166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12492" cy="27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42155" y="4987127"/>
            <a:ext cx="4322798" cy="4204452"/>
            <a:chOff x="0" y="0"/>
            <a:chExt cx="869982" cy="8461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9982" cy="846164"/>
            </a:xfrm>
            <a:custGeom>
              <a:avLst/>
              <a:gdLst/>
              <a:ahLst/>
              <a:cxnLst/>
              <a:rect r="r" b="b" t="t" l="l"/>
              <a:pathLst>
                <a:path h="8461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11184"/>
                  </a:lnTo>
                  <a:cubicBezTo>
                    <a:pt x="869982" y="830503"/>
                    <a:pt x="854321" y="846164"/>
                    <a:pt x="835002" y="846164"/>
                  </a:cubicBezTo>
                  <a:lnTo>
                    <a:pt x="34980" y="846164"/>
                  </a:lnTo>
                  <a:cubicBezTo>
                    <a:pt x="15661" y="846164"/>
                    <a:pt x="0" y="830503"/>
                    <a:pt x="0" y="8111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69982" cy="87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39644" y="9429704"/>
            <a:ext cx="4322798" cy="4188551"/>
            <a:chOff x="0" y="0"/>
            <a:chExt cx="869982" cy="8429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9982" cy="842964"/>
            </a:xfrm>
            <a:custGeom>
              <a:avLst/>
              <a:gdLst/>
              <a:ahLst/>
              <a:cxnLst/>
              <a:rect r="r" b="b" t="t" l="l"/>
              <a:pathLst>
                <a:path h="8429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07984"/>
                  </a:lnTo>
                  <a:cubicBezTo>
                    <a:pt x="869982" y="827303"/>
                    <a:pt x="854321" y="842964"/>
                    <a:pt x="835002" y="842964"/>
                  </a:cubicBezTo>
                  <a:lnTo>
                    <a:pt x="34980" y="842964"/>
                  </a:lnTo>
                  <a:cubicBezTo>
                    <a:pt x="25702" y="842964"/>
                    <a:pt x="16805" y="839278"/>
                    <a:pt x="10245" y="832718"/>
                  </a:cubicBezTo>
                  <a:cubicBezTo>
                    <a:pt x="3685" y="826159"/>
                    <a:pt x="0" y="817261"/>
                    <a:pt x="0" y="8079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9982" cy="87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32558" y="4987127"/>
            <a:ext cx="4322798" cy="4204452"/>
            <a:chOff x="0" y="0"/>
            <a:chExt cx="869982" cy="8461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9982" cy="846164"/>
            </a:xfrm>
            <a:custGeom>
              <a:avLst/>
              <a:gdLst/>
              <a:ahLst/>
              <a:cxnLst/>
              <a:rect r="r" b="b" t="t" l="l"/>
              <a:pathLst>
                <a:path h="8461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11184"/>
                  </a:lnTo>
                  <a:cubicBezTo>
                    <a:pt x="869982" y="830503"/>
                    <a:pt x="854321" y="846164"/>
                    <a:pt x="835002" y="846164"/>
                  </a:cubicBezTo>
                  <a:lnTo>
                    <a:pt x="34980" y="846164"/>
                  </a:lnTo>
                  <a:cubicBezTo>
                    <a:pt x="15661" y="846164"/>
                    <a:pt x="0" y="830503"/>
                    <a:pt x="0" y="8111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69982" cy="87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30048" y="9429704"/>
            <a:ext cx="4322798" cy="4188551"/>
            <a:chOff x="0" y="0"/>
            <a:chExt cx="869982" cy="8429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9982" cy="842964"/>
            </a:xfrm>
            <a:custGeom>
              <a:avLst/>
              <a:gdLst/>
              <a:ahLst/>
              <a:cxnLst/>
              <a:rect r="r" b="b" t="t" l="l"/>
              <a:pathLst>
                <a:path h="8429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07984"/>
                  </a:lnTo>
                  <a:cubicBezTo>
                    <a:pt x="869982" y="827303"/>
                    <a:pt x="854321" y="842964"/>
                    <a:pt x="835002" y="842964"/>
                  </a:cubicBezTo>
                  <a:lnTo>
                    <a:pt x="34980" y="842964"/>
                  </a:lnTo>
                  <a:cubicBezTo>
                    <a:pt x="25702" y="842964"/>
                    <a:pt x="16805" y="839278"/>
                    <a:pt x="10245" y="832718"/>
                  </a:cubicBezTo>
                  <a:cubicBezTo>
                    <a:pt x="3685" y="826159"/>
                    <a:pt x="0" y="817261"/>
                    <a:pt x="0" y="8079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69982" cy="87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737036" y="13837330"/>
            <a:ext cx="4310063" cy="2350649"/>
            <a:chOff x="0" y="0"/>
            <a:chExt cx="867419" cy="4730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7419" cy="473078"/>
            </a:xfrm>
            <a:custGeom>
              <a:avLst/>
              <a:gdLst/>
              <a:ahLst/>
              <a:cxnLst/>
              <a:rect r="r" b="b" t="t" l="l"/>
              <a:pathLst>
                <a:path h="473078" w="867419">
                  <a:moveTo>
                    <a:pt x="35083" y="0"/>
                  </a:moveTo>
                  <a:lnTo>
                    <a:pt x="832336" y="0"/>
                  </a:lnTo>
                  <a:cubicBezTo>
                    <a:pt x="841640" y="0"/>
                    <a:pt x="850564" y="3696"/>
                    <a:pt x="857143" y="10276"/>
                  </a:cubicBezTo>
                  <a:cubicBezTo>
                    <a:pt x="863722" y="16855"/>
                    <a:pt x="867419" y="25778"/>
                    <a:pt x="867419" y="35083"/>
                  </a:cubicBezTo>
                  <a:lnTo>
                    <a:pt x="867419" y="437995"/>
                  </a:lnTo>
                  <a:cubicBezTo>
                    <a:pt x="867419" y="447300"/>
                    <a:pt x="863722" y="456223"/>
                    <a:pt x="857143" y="462803"/>
                  </a:cubicBezTo>
                  <a:cubicBezTo>
                    <a:pt x="850564" y="469382"/>
                    <a:pt x="841640" y="473078"/>
                    <a:pt x="832336" y="473078"/>
                  </a:cubicBezTo>
                  <a:lnTo>
                    <a:pt x="35083" y="473078"/>
                  </a:lnTo>
                  <a:cubicBezTo>
                    <a:pt x="25778" y="473078"/>
                    <a:pt x="16855" y="469382"/>
                    <a:pt x="10276" y="462803"/>
                  </a:cubicBezTo>
                  <a:cubicBezTo>
                    <a:pt x="3696" y="456223"/>
                    <a:pt x="0" y="447300"/>
                    <a:pt x="0" y="437995"/>
                  </a:cubicBezTo>
                  <a:lnTo>
                    <a:pt x="0" y="35083"/>
                  </a:lnTo>
                  <a:cubicBezTo>
                    <a:pt x="0" y="25778"/>
                    <a:pt x="3696" y="16855"/>
                    <a:pt x="10276" y="10276"/>
                  </a:cubicBezTo>
                  <a:cubicBezTo>
                    <a:pt x="16855" y="3696"/>
                    <a:pt x="25778" y="0"/>
                    <a:pt x="35083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67419" cy="501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2558" y="13780180"/>
            <a:ext cx="4313189" cy="2407799"/>
            <a:chOff x="0" y="0"/>
            <a:chExt cx="868048" cy="484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8048" cy="484580"/>
            </a:xfrm>
            <a:custGeom>
              <a:avLst/>
              <a:gdLst/>
              <a:ahLst/>
              <a:cxnLst/>
              <a:rect r="r" b="b" t="t" l="l"/>
              <a:pathLst>
                <a:path h="484580" w="868048">
                  <a:moveTo>
                    <a:pt x="35057" y="0"/>
                  </a:moveTo>
                  <a:lnTo>
                    <a:pt x="832990" y="0"/>
                  </a:lnTo>
                  <a:cubicBezTo>
                    <a:pt x="842288" y="0"/>
                    <a:pt x="851205" y="3694"/>
                    <a:pt x="857780" y="10268"/>
                  </a:cubicBezTo>
                  <a:cubicBezTo>
                    <a:pt x="864354" y="16843"/>
                    <a:pt x="868048" y="25760"/>
                    <a:pt x="868048" y="35057"/>
                  </a:cubicBezTo>
                  <a:lnTo>
                    <a:pt x="868048" y="449522"/>
                  </a:lnTo>
                  <a:cubicBezTo>
                    <a:pt x="868048" y="458820"/>
                    <a:pt x="864354" y="467737"/>
                    <a:pt x="857780" y="474312"/>
                  </a:cubicBezTo>
                  <a:cubicBezTo>
                    <a:pt x="851205" y="480886"/>
                    <a:pt x="842288" y="484580"/>
                    <a:pt x="832990" y="484580"/>
                  </a:cubicBezTo>
                  <a:lnTo>
                    <a:pt x="35057" y="484580"/>
                  </a:lnTo>
                  <a:cubicBezTo>
                    <a:pt x="25760" y="484580"/>
                    <a:pt x="16843" y="480886"/>
                    <a:pt x="10268" y="474312"/>
                  </a:cubicBezTo>
                  <a:cubicBezTo>
                    <a:pt x="3694" y="467737"/>
                    <a:pt x="0" y="458820"/>
                    <a:pt x="0" y="449522"/>
                  </a:cubicBezTo>
                  <a:lnTo>
                    <a:pt x="0" y="35057"/>
                  </a:lnTo>
                  <a:cubicBezTo>
                    <a:pt x="0" y="25760"/>
                    <a:pt x="3694" y="16843"/>
                    <a:pt x="10268" y="10268"/>
                  </a:cubicBezTo>
                  <a:cubicBezTo>
                    <a:pt x="16843" y="3694"/>
                    <a:pt x="25760" y="0"/>
                    <a:pt x="35057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68048" cy="513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81049" y="10571775"/>
            <a:ext cx="4026242" cy="1016372"/>
            <a:chOff x="0" y="0"/>
            <a:chExt cx="1294490" cy="3267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94490" cy="326777"/>
            </a:xfrm>
            <a:custGeom>
              <a:avLst/>
              <a:gdLst/>
              <a:ahLst/>
              <a:cxnLst/>
              <a:rect r="r" b="b" t="t" l="l"/>
              <a:pathLst>
                <a:path h="326777" w="1294490">
                  <a:moveTo>
                    <a:pt x="1091290" y="0"/>
                  </a:moveTo>
                  <a:cubicBezTo>
                    <a:pt x="1203515" y="0"/>
                    <a:pt x="1294490" y="73152"/>
                    <a:pt x="1294490" y="163389"/>
                  </a:cubicBezTo>
                  <a:cubicBezTo>
                    <a:pt x="1294490" y="253626"/>
                    <a:pt x="1203515" y="326777"/>
                    <a:pt x="1091290" y="326777"/>
                  </a:cubicBezTo>
                  <a:lnTo>
                    <a:pt x="203200" y="326777"/>
                  </a:lnTo>
                  <a:cubicBezTo>
                    <a:pt x="90976" y="326777"/>
                    <a:pt x="0" y="253626"/>
                    <a:pt x="0" y="163389"/>
                  </a:cubicBezTo>
                  <a:cubicBezTo>
                    <a:pt x="0" y="731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94490" cy="364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02832" y="12047205"/>
            <a:ext cx="3982677" cy="964828"/>
            <a:chOff x="0" y="0"/>
            <a:chExt cx="1280483" cy="31020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483" cy="310205"/>
            </a:xfrm>
            <a:custGeom>
              <a:avLst/>
              <a:gdLst/>
              <a:ahLst/>
              <a:cxnLst/>
              <a:rect r="r" b="b" t="t" l="l"/>
              <a:pathLst>
                <a:path h="310205" w="1280483">
                  <a:moveTo>
                    <a:pt x="1077283" y="0"/>
                  </a:moveTo>
                  <a:cubicBezTo>
                    <a:pt x="1189508" y="0"/>
                    <a:pt x="1280483" y="69442"/>
                    <a:pt x="1280483" y="155102"/>
                  </a:cubicBezTo>
                  <a:cubicBezTo>
                    <a:pt x="1280483" y="240763"/>
                    <a:pt x="1189508" y="310205"/>
                    <a:pt x="1077283" y="310205"/>
                  </a:cubicBezTo>
                  <a:lnTo>
                    <a:pt x="203200" y="310205"/>
                  </a:lnTo>
                  <a:cubicBezTo>
                    <a:pt x="90976" y="310205"/>
                    <a:pt x="0" y="240763"/>
                    <a:pt x="0" y="155102"/>
                  </a:cubicBezTo>
                  <a:cubicBezTo>
                    <a:pt x="0" y="6944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280483" cy="348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742155" y="16407053"/>
            <a:ext cx="8813201" cy="1369372"/>
            <a:chOff x="0" y="0"/>
            <a:chExt cx="1813416" cy="2817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13416" cy="281764"/>
            </a:xfrm>
            <a:custGeom>
              <a:avLst/>
              <a:gdLst/>
              <a:ahLst/>
              <a:cxnLst/>
              <a:rect r="r" b="b" t="t" l="l"/>
              <a:pathLst>
                <a:path h="281764" w="1813416">
                  <a:moveTo>
                    <a:pt x="17157" y="0"/>
                  </a:moveTo>
                  <a:lnTo>
                    <a:pt x="1796259" y="0"/>
                  </a:lnTo>
                  <a:cubicBezTo>
                    <a:pt x="1805734" y="0"/>
                    <a:pt x="1813416" y="7682"/>
                    <a:pt x="1813416" y="17157"/>
                  </a:cubicBezTo>
                  <a:lnTo>
                    <a:pt x="1813416" y="264607"/>
                  </a:lnTo>
                  <a:cubicBezTo>
                    <a:pt x="1813416" y="269157"/>
                    <a:pt x="1811608" y="273521"/>
                    <a:pt x="1808391" y="276739"/>
                  </a:cubicBezTo>
                  <a:cubicBezTo>
                    <a:pt x="1805173" y="279956"/>
                    <a:pt x="1800809" y="281764"/>
                    <a:pt x="1796259" y="281764"/>
                  </a:cubicBezTo>
                  <a:lnTo>
                    <a:pt x="17157" y="281764"/>
                  </a:lnTo>
                  <a:cubicBezTo>
                    <a:pt x="7682" y="281764"/>
                    <a:pt x="0" y="274082"/>
                    <a:pt x="0" y="264607"/>
                  </a:cubicBezTo>
                  <a:lnTo>
                    <a:pt x="0" y="17157"/>
                  </a:lnTo>
                  <a:cubicBezTo>
                    <a:pt x="0" y="7682"/>
                    <a:pt x="7682" y="0"/>
                    <a:pt x="17157" y="0"/>
                  </a:cubicBezTo>
                  <a:close/>
                </a:path>
              </a:pathLst>
            </a:custGeom>
            <a:solidFill>
              <a:srgbClr val="15366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813416" cy="319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392702" y="1767176"/>
            <a:ext cx="616350" cy="23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b="true">
                <a:solidFill>
                  <a:srgbClr val="0055FF"/>
                </a:solidFill>
                <a:latin typeface="Inter Bold"/>
                <a:ea typeface="Inter Bold"/>
                <a:cs typeface="Inter Bold"/>
                <a:sym typeface="Inter Bold"/>
              </a:rPr>
              <a:t>VF001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19916" y="278779"/>
            <a:ext cx="3175936" cy="6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96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Software &amp; Web Development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892979" y="1746878"/>
            <a:ext cx="468010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8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E-Commerce UX/UI Front-End Developer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686688" y="984980"/>
            <a:ext cx="979509" cy="19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b="true" sz="1159" spc="347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19916" y="1002447"/>
            <a:ext cx="5655223" cy="19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Builds the web int</a:t>
            </a:r>
            <a:r>
              <a:rPr lang="en-US" sz="1265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erfaces customers use to configure and order vehicles.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82775" y="2365629"/>
            <a:ext cx="12212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eam: 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Digital Retail UI Team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08335" y="2365629"/>
            <a:ext cx="16390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eports to: 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Lead Digital Retail Architect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247377" y="2338302"/>
            <a:ext cx="139553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Work mod</a:t>
            </a: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e: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Hybrid (Ho Chi Minh City / Remote)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42932" y="2338302"/>
            <a:ext cx="19030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Type and hours: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Full-Time, flexible hours (core hours 10:00 AM - 4:00 PM ICT)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76442" y="3739352"/>
            <a:ext cx="16562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About The Role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36350" y="4029865"/>
            <a:ext cx="84995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esign and develop responsive web interfaces for the digital retail platform. Combine visual prototyping with front-end engineering to optimize the vehicle purchasing journey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92761" y="5212456"/>
            <a:ext cx="22024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Key responsibilities: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936350" y="5600654"/>
            <a:ext cx="3884611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Create wireframes and interactive prototypes in Figma for vehicle configurations.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Build responsive web interfaces for vehicle configuration and online ordering.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Maintain web accessibility standards (WCAG) across all customer-facing retail pages.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Implement loading states and performance budgets to optimize page speed.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Integrate interfaces with order, payment and inventory APIs, minimising third-party dependencies.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9508063" y="5212456"/>
            <a:ext cx="25627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Essential requirements: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46847" y="5803006"/>
            <a:ext cx="3884611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Bachelor's degree in Computer Science, Software Engineering, Design, Human-Computer Interaction, or a related field.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Minimum 3 years of commercial experience in front-end development or UX/UI design.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Expert-level proficiency in Figma.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trong proficiency in semantic HTML5, CSS3, and core JavaScript.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Practical knowledge of web accessibility standards and ARIA practices.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5062644" y="9696404"/>
            <a:ext cx="20282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Preferable criteria:</a:t>
            </a:r>
          </a:p>
          <a:p>
            <a:pPr algn="l">
              <a:lnSpc>
                <a:spcPts val="2117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5029200" y="10258379"/>
            <a:ext cx="3884611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Professional working proficiency in English (IELTS 6.0 equivalent or higher)</a:t>
            </a:r>
          </a:p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Experience with modern front-end frameworks (such as React or Vue.js).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Fa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miliarity with secure data handling practices for online checkout systems.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revious experience in e-commerce or automotive digital retail platforms.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Performance goals: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9573088" y="9696404"/>
            <a:ext cx="21201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Performance goals: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73088" y="9963104"/>
            <a:ext cx="388461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hat success looks like in this role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65127" y="10698962"/>
            <a:ext cx="388461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60-d</a:t>
            </a: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ay outcome:</a:t>
            </a:r>
          </a:p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Deliver reusable checkout and configurator components with zero critical errors in an accessibility audit.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65127" y="12243869"/>
            <a:ext cx="337572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90-d</a:t>
            </a: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ay outcome:</a:t>
            </a:r>
          </a:p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Raise vehicle-configurator completion rate by 15%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062644" y="14075455"/>
            <a:ext cx="9721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Benefits:</a:t>
            </a:r>
          </a:p>
          <a:p>
            <a:pPr algn="l">
              <a:lnSpc>
                <a:spcPts val="211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5176442" y="14513605"/>
            <a:ext cx="358488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</a:p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Comprehensive he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lth insurance, flexible working hours, and employee discounts on eligible company products.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9508063" y="14075455"/>
            <a:ext cx="19963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Equal opportunity: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08063" y="14599330"/>
            <a:ext cx="382339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Our c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ommitment to every applicant.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Vi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nFast Digital Ret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l is an equal opportunity employer, considering candidates regardless of gender, age, ethnicity, religion, or disability.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11946006" y="2338302"/>
            <a:ext cx="144345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Salary: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30,000,000 - 40,000,000 VND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992761" y="16645178"/>
            <a:ext cx="47008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Applicatio</a:t>
            </a:r>
            <a:r>
              <a:rPr lang="en-US" b="true" sz="176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ns close Friday, 30 October 2026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992761" y="17035703"/>
            <a:ext cx="35848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4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reference VF001 on the application form.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1002874" y="16645178"/>
            <a:ext cx="2328584" cy="828675"/>
            <a:chOff x="0" y="0"/>
            <a:chExt cx="635000" cy="22597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5000" cy="225978"/>
            </a:xfrm>
            <a:custGeom>
              <a:avLst/>
              <a:gdLst/>
              <a:ahLst/>
              <a:cxnLst/>
              <a:rect r="r" b="b" t="t" l="l"/>
              <a:pathLst>
                <a:path h="225978" w="635000">
                  <a:moveTo>
                    <a:pt x="64936" y="0"/>
                  </a:moveTo>
                  <a:lnTo>
                    <a:pt x="570064" y="0"/>
                  </a:lnTo>
                  <a:cubicBezTo>
                    <a:pt x="587286" y="0"/>
                    <a:pt x="603803" y="6841"/>
                    <a:pt x="615981" y="19019"/>
                  </a:cubicBezTo>
                  <a:cubicBezTo>
                    <a:pt x="628159" y="31197"/>
                    <a:pt x="635000" y="47714"/>
                    <a:pt x="635000" y="64936"/>
                  </a:cubicBezTo>
                  <a:lnTo>
                    <a:pt x="635000" y="161042"/>
                  </a:lnTo>
                  <a:cubicBezTo>
                    <a:pt x="635000" y="178264"/>
                    <a:pt x="628159" y="194781"/>
                    <a:pt x="615981" y="206959"/>
                  </a:cubicBezTo>
                  <a:cubicBezTo>
                    <a:pt x="603803" y="219136"/>
                    <a:pt x="587286" y="225978"/>
                    <a:pt x="570064" y="225978"/>
                  </a:cubicBezTo>
                  <a:lnTo>
                    <a:pt x="64936" y="225978"/>
                  </a:lnTo>
                  <a:cubicBezTo>
                    <a:pt x="47714" y="225978"/>
                    <a:pt x="31197" y="219136"/>
                    <a:pt x="19019" y="206959"/>
                  </a:cubicBezTo>
                  <a:cubicBezTo>
                    <a:pt x="6841" y="194781"/>
                    <a:pt x="0" y="178264"/>
                    <a:pt x="0" y="161042"/>
                  </a:cubicBezTo>
                  <a:lnTo>
                    <a:pt x="0" y="64936"/>
                  </a:lnTo>
                  <a:cubicBezTo>
                    <a:pt x="0" y="47714"/>
                    <a:pt x="6841" y="31197"/>
                    <a:pt x="19019" y="19019"/>
                  </a:cubicBezTo>
                  <a:cubicBezTo>
                    <a:pt x="31197" y="6841"/>
                    <a:pt x="47714" y="0"/>
                    <a:pt x="64936" y="0"/>
                  </a:cubicBezTo>
                  <a:close/>
                </a:path>
              </a:pathLst>
            </a:custGeom>
            <a:solidFill>
              <a:srgbClr val="0B5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635000" cy="2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168172" y="16902353"/>
            <a:ext cx="19979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APPLY FOR </a:t>
            </a:r>
            <a:r>
              <a:rPr lang="en-US" b="true" sz="177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VF001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88702" y="1357159"/>
            <a:ext cx="9310596" cy="16721684"/>
            <a:chOff x="0" y="0"/>
            <a:chExt cx="11582400" cy="20801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82400" cy="20801808"/>
            </a:xfrm>
            <a:custGeom>
              <a:avLst/>
              <a:gdLst/>
              <a:ahLst/>
              <a:cxnLst/>
              <a:rect r="r" b="b" t="t" l="l"/>
              <a:pathLst>
                <a:path h="20801808" w="11582400">
                  <a:moveTo>
                    <a:pt x="0" y="866742"/>
                  </a:moveTo>
                  <a:cubicBezTo>
                    <a:pt x="0" y="388108"/>
                    <a:pt x="102362" y="0"/>
                    <a:pt x="228600" y="0"/>
                  </a:cubicBezTo>
                  <a:lnTo>
                    <a:pt x="11353800" y="0"/>
                  </a:lnTo>
                  <a:cubicBezTo>
                    <a:pt x="11480038" y="0"/>
                    <a:pt x="11582400" y="388108"/>
                    <a:pt x="11582400" y="866742"/>
                  </a:cubicBezTo>
                  <a:lnTo>
                    <a:pt x="11582400" y="19935065"/>
                  </a:lnTo>
                  <a:cubicBezTo>
                    <a:pt x="11582400" y="20413700"/>
                    <a:pt x="11480038" y="20801808"/>
                    <a:pt x="11353800" y="20801808"/>
                  </a:cubicBezTo>
                  <a:lnTo>
                    <a:pt x="228600" y="20801808"/>
                  </a:lnTo>
                  <a:cubicBezTo>
                    <a:pt x="102362" y="20801808"/>
                    <a:pt x="0" y="20413700"/>
                    <a:pt x="0" y="1993506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88702" y="256152"/>
            <a:ext cx="1147884" cy="909363"/>
          </a:xfrm>
          <a:custGeom>
            <a:avLst/>
            <a:gdLst/>
            <a:ahLst/>
            <a:cxnLst/>
            <a:rect r="r" b="b" t="t" l="l"/>
            <a:pathLst>
              <a:path h="909363" w="1147884">
                <a:moveTo>
                  <a:pt x="0" y="0"/>
                </a:moveTo>
                <a:lnTo>
                  <a:pt x="1147884" y="0"/>
                </a:lnTo>
                <a:lnTo>
                  <a:pt x="1147884" y="909363"/>
                </a:lnTo>
                <a:lnTo>
                  <a:pt x="0" y="909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432612" y="1585371"/>
            <a:ext cx="926096" cy="599239"/>
            <a:chOff x="0" y="0"/>
            <a:chExt cx="1234795" cy="7989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4795" cy="798985"/>
            </a:xfrm>
            <a:custGeom>
              <a:avLst/>
              <a:gdLst/>
              <a:ahLst/>
              <a:cxnLst/>
              <a:rect r="r" b="b" t="t" l="l"/>
              <a:pathLst>
                <a:path h="798985" w="1234795">
                  <a:moveTo>
                    <a:pt x="0" y="0"/>
                  </a:moveTo>
                  <a:lnTo>
                    <a:pt x="1234795" y="0"/>
                  </a:lnTo>
                  <a:lnTo>
                    <a:pt x="1234795" y="798985"/>
                  </a:lnTo>
                  <a:lnTo>
                    <a:pt x="0" y="79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6506" y="297947"/>
              <a:ext cx="1086869" cy="217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19"/>
                </a:lnSpc>
              </a:pPr>
              <a:r>
                <a:rPr lang="en-US" sz="1091" spc="-1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APPLY NOW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9438" y="1725678"/>
            <a:ext cx="1122878" cy="318625"/>
            <a:chOff x="0" y="0"/>
            <a:chExt cx="635000" cy="1801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180186"/>
            </a:xfrm>
            <a:custGeom>
              <a:avLst/>
              <a:gdLst/>
              <a:ahLst/>
              <a:cxnLst/>
              <a:rect r="r" b="b" t="t" l="l"/>
              <a:pathLst>
                <a:path h="180186" w="635000">
                  <a:moveTo>
                    <a:pt x="90093" y="0"/>
                  </a:moveTo>
                  <a:lnTo>
                    <a:pt x="544907" y="0"/>
                  </a:lnTo>
                  <a:cubicBezTo>
                    <a:pt x="594664" y="0"/>
                    <a:pt x="635000" y="40336"/>
                    <a:pt x="635000" y="90093"/>
                  </a:cubicBezTo>
                  <a:lnTo>
                    <a:pt x="635000" y="90093"/>
                  </a:lnTo>
                  <a:cubicBezTo>
                    <a:pt x="635000" y="113987"/>
                    <a:pt x="625508" y="136903"/>
                    <a:pt x="608612" y="153798"/>
                  </a:cubicBezTo>
                  <a:cubicBezTo>
                    <a:pt x="591717" y="170694"/>
                    <a:pt x="568801" y="180186"/>
                    <a:pt x="544907" y="180186"/>
                  </a:cubicBezTo>
                  <a:lnTo>
                    <a:pt x="90093" y="180186"/>
                  </a:lnTo>
                  <a:cubicBezTo>
                    <a:pt x="40336" y="180186"/>
                    <a:pt x="0" y="139850"/>
                    <a:pt x="0" y="90093"/>
                  </a:cubicBezTo>
                  <a:lnTo>
                    <a:pt x="0" y="90093"/>
                  </a:lnTo>
                  <a:cubicBezTo>
                    <a:pt x="0" y="40336"/>
                    <a:pt x="40336" y="0"/>
                    <a:pt x="90093" y="0"/>
                  </a:cubicBezTo>
                  <a:close/>
                </a:path>
              </a:pathLst>
            </a:custGeom>
            <a:solidFill>
              <a:srgbClr val="EEF4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35000" cy="189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37036" y="2251703"/>
            <a:ext cx="8808711" cy="1173324"/>
            <a:chOff x="0" y="0"/>
            <a:chExt cx="1812492" cy="241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2492" cy="241425"/>
            </a:xfrm>
            <a:custGeom>
              <a:avLst/>
              <a:gdLst/>
              <a:ahLst/>
              <a:cxnLst/>
              <a:rect r="r" b="b" t="t" l="l"/>
              <a:pathLst>
                <a:path h="241425" w="1812492">
                  <a:moveTo>
                    <a:pt x="17166" y="0"/>
                  </a:moveTo>
                  <a:lnTo>
                    <a:pt x="1795326" y="0"/>
                  </a:lnTo>
                  <a:cubicBezTo>
                    <a:pt x="1799879" y="0"/>
                    <a:pt x="1804245" y="1809"/>
                    <a:pt x="1807464" y="5028"/>
                  </a:cubicBezTo>
                  <a:cubicBezTo>
                    <a:pt x="1810683" y="8247"/>
                    <a:pt x="1812492" y="12613"/>
                    <a:pt x="1812492" y="17166"/>
                  </a:cubicBezTo>
                  <a:lnTo>
                    <a:pt x="1812492" y="224259"/>
                  </a:lnTo>
                  <a:cubicBezTo>
                    <a:pt x="1812492" y="228812"/>
                    <a:pt x="1810683" y="233178"/>
                    <a:pt x="1807464" y="236397"/>
                  </a:cubicBezTo>
                  <a:cubicBezTo>
                    <a:pt x="1804245" y="239616"/>
                    <a:pt x="1799879" y="241425"/>
                    <a:pt x="1795326" y="241425"/>
                  </a:cubicBezTo>
                  <a:lnTo>
                    <a:pt x="17166" y="241425"/>
                  </a:lnTo>
                  <a:cubicBezTo>
                    <a:pt x="12613" y="241425"/>
                    <a:pt x="8247" y="239616"/>
                    <a:pt x="5028" y="236397"/>
                  </a:cubicBezTo>
                  <a:cubicBezTo>
                    <a:pt x="1809" y="233178"/>
                    <a:pt x="0" y="228812"/>
                    <a:pt x="0" y="224259"/>
                  </a:cubicBezTo>
                  <a:lnTo>
                    <a:pt x="0" y="17166"/>
                  </a:lnTo>
                  <a:cubicBezTo>
                    <a:pt x="0" y="12613"/>
                    <a:pt x="1809" y="8247"/>
                    <a:pt x="5028" y="5028"/>
                  </a:cubicBezTo>
                  <a:cubicBezTo>
                    <a:pt x="8247" y="1809"/>
                    <a:pt x="12613" y="0"/>
                    <a:pt x="17166" y="0"/>
                  </a:cubicBezTo>
                  <a:close/>
                </a:path>
              </a:pathLst>
            </a:custGeom>
            <a:solidFill>
              <a:srgbClr val="DBE5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12492" cy="27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39644" y="3585203"/>
            <a:ext cx="8808711" cy="1173324"/>
            <a:chOff x="0" y="0"/>
            <a:chExt cx="1812492" cy="241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2492" cy="241425"/>
            </a:xfrm>
            <a:custGeom>
              <a:avLst/>
              <a:gdLst/>
              <a:ahLst/>
              <a:cxnLst/>
              <a:rect r="r" b="b" t="t" l="l"/>
              <a:pathLst>
                <a:path h="241425" w="1812492">
                  <a:moveTo>
                    <a:pt x="17166" y="0"/>
                  </a:moveTo>
                  <a:lnTo>
                    <a:pt x="1795326" y="0"/>
                  </a:lnTo>
                  <a:cubicBezTo>
                    <a:pt x="1799879" y="0"/>
                    <a:pt x="1804245" y="1809"/>
                    <a:pt x="1807464" y="5028"/>
                  </a:cubicBezTo>
                  <a:cubicBezTo>
                    <a:pt x="1810683" y="8247"/>
                    <a:pt x="1812492" y="12613"/>
                    <a:pt x="1812492" y="17166"/>
                  </a:cubicBezTo>
                  <a:lnTo>
                    <a:pt x="1812492" y="224259"/>
                  </a:lnTo>
                  <a:cubicBezTo>
                    <a:pt x="1812492" y="228812"/>
                    <a:pt x="1810683" y="233178"/>
                    <a:pt x="1807464" y="236397"/>
                  </a:cubicBezTo>
                  <a:cubicBezTo>
                    <a:pt x="1804245" y="239616"/>
                    <a:pt x="1799879" y="241425"/>
                    <a:pt x="1795326" y="241425"/>
                  </a:cubicBezTo>
                  <a:lnTo>
                    <a:pt x="17166" y="241425"/>
                  </a:lnTo>
                  <a:cubicBezTo>
                    <a:pt x="12613" y="241425"/>
                    <a:pt x="8247" y="239616"/>
                    <a:pt x="5028" y="236397"/>
                  </a:cubicBezTo>
                  <a:cubicBezTo>
                    <a:pt x="1809" y="233178"/>
                    <a:pt x="0" y="228812"/>
                    <a:pt x="0" y="224259"/>
                  </a:cubicBezTo>
                  <a:lnTo>
                    <a:pt x="0" y="17166"/>
                  </a:lnTo>
                  <a:cubicBezTo>
                    <a:pt x="0" y="12613"/>
                    <a:pt x="1809" y="8247"/>
                    <a:pt x="5028" y="5028"/>
                  </a:cubicBezTo>
                  <a:cubicBezTo>
                    <a:pt x="8247" y="1809"/>
                    <a:pt x="12613" y="0"/>
                    <a:pt x="17166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12492" cy="27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42155" y="4987127"/>
            <a:ext cx="4322798" cy="4204452"/>
            <a:chOff x="0" y="0"/>
            <a:chExt cx="869982" cy="8461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9982" cy="846164"/>
            </a:xfrm>
            <a:custGeom>
              <a:avLst/>
              <a:gdLst/>
              <a:ahLst/>
              <a:cxnLst/>
              <a:rect r="r" b="b" t="t" l="l"/>
              <a:pathLst>
                <a:path h="8461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11184"/>
                  </a:lnTo>
                  <a:cubicBezTo>
                    <a:pt x="869982" y="830503"/>
                    <a:pt x="854321" y="846164"/>
                    <a:pt x="835002" y="846164"/>
                  </a:cubicBezTo>
                  <a:lnTo>
                    <a:pt x="34980" y="846164"/>
                  </a:lnTo>
                  <a:cubicBezTo>
                    <a:pt x="15661" y="846164"/>
                    <a:pt x="0" y="830503"/>
                    <a:pt x="0" y="8111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69982" cy="87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39644" y="9429704"/>
            <a:ext cx="4322798" cy="4188551"/>
            <a:chOff x="0" y="0"/>
            <a:chExt cx="869982" cy="8429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9982" cy="842964"/>
            </a:xfrm>
            <a:custGeom>
              <a:avLst/>
              <a:gdLst/>
              <a:ahLst/>
              <a:cxnLst/>
              <a:rect r="r" b="b" t="t" l="l"/>
              <a:pathLst>
                <a:path h="8429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07984"/>
                  </a:lnTo>
                  <a:cubicBezTo>
                    <a:pt x="869982" y="827303"/>
                    <a:pt x="854321" y="842964"/>
                    <a:pt x="835002" y="842964"/>
                  </a:cubicBezTo>
                  <a:lnTo>
                    <a:pt x="34980" y="842964"/>
                  </a:lnTo>
                  <a:cubicBezTo>
                    <a:pt x="25702" y="842964"/>
                    <a:pt x="16805" y="839278"/>
                    <a:pt x="10245" y="832718"/>
                  </a:cubicBezTo>
                  <a:cubicBezTo>
                    <a:pt x="3685" y="826159"/>
                    <a:pt x="0" y="817261"/>
                    <a:pt x="0" y="8079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9982" cy="87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32558" y="4987127"/>
            <a:ext cx="4322798" cy="4204452"/>
            <a:chOff x="0" y="0"/>
            <a:chExt cx="869982" cy="8461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9982" cy="846164"/>
            </a:xfrm>
            <a:custGeom>
              <a:avLst/>
              <a:gdLst/>
              <a:ahLst/>
              <a:cxnLst/>
              <a:rect r="r" b="b" t="t" l="l"/>
              <a:pathLst>
                <a:path h="8461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11184"/>
                  </a:lnTo>
                  <a:cubicBezTo>
                    <a:pt x="869982" y="830503"/>
                    <a:pt x="854321" y="846164"/>
                    <a:pt x="835002" y="846164"/>
                  </a:cubicBezTo>
                  <a:lnTo>
                    <a:pt x="34980" y="846164"/>
                  </a:lnTo>
                  <a:cubicBezTo>
                    <a:pt x="15661" y="846164"/>
                    <a:pt x="0" y="830503"/>
                    <a:pt x="0" y="8111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69982" cy="87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30048" y="9429704"/>
            <a:ext cx="4322798" cy="4188551"/>
            <a:chOff x="0" y="0"/>
            <a:chExt cx="869982" cy="8429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9982" cy="842964"/>
            </a:xfrm>
            <a:custGeom>
              <a:avLst/>
              <a:gdLst/>
              <a:ahLst/>
              <a:cxnLst/>
              <a:rect r="r" b="b" t="t" l="l"/>
              <a:pathLst>
                <a:path h="842964" w="869982">
                  <a:moveTo>
                    <a:pt x="34980" y="0"/>
                  </a:moveTo>
                  <a:lnTo>
                    <a:pt x="835002" y="0"/>
                  </a:lnTo>
                  <a:cubicBezTo>
                    <a:pt x="854321" y="0"/>
                    <a:pt x="869982" y="15661"/>
                    <a:pt x="869982" y="34980"/>
                  </a:cubicBezTo>
                  <a:lnTo>
                    <a:pt x="869982" y="807984"/>
                  </a:lnTo>
                  <a:cubicBezTo>
                    <a:pt x="869982" y="827303"/>
                    <a:pt x="854321" y="842964"/>
                    <a:pt x="835002" y="842964"/>
                  </a:cubicBezTo>
                  <a:lnTo>
                    <a:pt x="34980" y="842964"/>
                  </a:lnTo>
                  <a:cubicBezTo>
                    <a:pt x="25702" y="842964"/>
                    <a:pt x="16805" y="839278"/>
                    <a:pt x="10245" y="832718"/>
                  </a:cubicBezTo>
                  <a:cubicBezTo>
                    <a:pt x="3685" y="826159"/>
                    <a:pt x="0" y="817261"/>
                    <a:pt x="0" y="807984"/>
                  </a:cubicBezTo>
                  <a:lnTo>
                    <a:pt x="0" y="34980"/>
                  </a:lnTo>
                  <a:cubicBezTo>
                    <a:pt x="0" y="15661"/>
                    <a:pt x="15661" y="0"/>
                    <a:pt x="34980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69982" cy="87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737036" y="13837330"/>
            <a:ext cx="4310063" cy="2350649"/>
            <a:chOff x="0" y="0"/>
            <a:chExt cx="867419" cy="4730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7419" cy="473078"/>
            </a:xfrm>
            <a:custGeom>
              <a:avLst/>
              <a:gdLst/>
              <a:ahLst/>
              <a:cxnLst/>
              <a:rect r="r" b="b" t="t" l="l"/>
              <a:pathLst>
                <a:path h="473078" w="867419">
                  <a:moveTo>
                    <a:pt x="35083" y="0"/>
                  </a:moveTo>
                  <a:lnTo>
                    <a:pt x="832336" y="0"/>
                  </a:lnTo>
                  <a:cubicBezTo>
                    <a:pt x="841640" y="0"/>
                    <a:pt x="850564" y="3696"/>
                    <a:pt x="857143" y="10276"/>
                  </a:cubicBezTo>
                  <a:cubicBezTo>
                    <a:pt x="863722" y="16855"/>
                    <a:pt x="867419" y="25778"/>
                    <a:pt x="867419" y="35083"/>
                  </a:cubicBezTo>
                  <a:lnTo>
                    <a:pt x="867419" y="437995"/>
                  </a:lnTo>
                  <a:cubicBezTo>
                    <a:pt x="867419" y="447300"/>
                    <a:pt x="863722" y="456223"/>
                    <a:pt x="857143" y="462803"/>
                  </a:cubicBezTo>
                  <a:cubicBezTo>
                    <a:pt x="850564" y="469382"/>
                    <a:pt x="841640" y="473078"/>
                    <a:pt x="832336" y="473078"/>
                  </a:cubicBezTo>
                  <a:lnTo>
                    <a:pt x="35083" y="473078"/>
                  </a:lnTo>
                  <a:cubicBezTo>
                    <a:pt x="25778" y="473078"/>
                    <a:pt x="16855" y="469382"/>
                    <a:pt x="10276" y="462803"/>
                  </a:cubicBezTo>
                  <a:cubicBezTo>
                    <a:pt x="3696" y="456223"/>
                    <a:pt x="0" y="447300"/>
                    <a:pt x="0" y="437995"/>
                  </a:cubicBezTo>
                  <a:lnTo>
                    <a:pt x="0" y="35083"/>
                  </a:lnTo>
                  <a:cubicBezTo>
                    <a:pt x="0" y="25778"/>
                    <a:pt x="3696" y="16855"/>
                    <a:pt x="10276" y="10276"/>
                  </a:cubicBezTo>
                  <a:cubicBezTo>
                    <a:pt x="16855" y="3696"/>
                    <a:pt x="25778" y="0"/>
                    <a:pt x="35083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67419" cy="501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2558" y="13780180"/>
            <a:ext cx="4313189" cy="2407799"/>
            <a:chOff x="0" y="0"/>
            <a:chExt cx="868048" cy="484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8048" cy="484580"/>
            </a:xfrm>
            <a:custGeom>
              <a:avLst/>
              <a:gdLst/>
              <a:ahLst/>
              <a:cxnLst/>
              <a:rect r="r" b="b" t="t" l="l"/>
              <a:pathLst>
                <a:path h="484580" w="868048">
                  <a:moveTo>
                    <a:pt x="35057" y="0"/>
                  </a:moveTo>
                  <a:lnTo>
                    <a:pt x="832990" y="0"/>
                  </a:lnTo>
                  <a:cubicBezTo>
                    <a:pt x="842288" y="0"/>
                    <a:pt x="851205" y="3694"/>
                    <a:pt x="857780" y="10268"/>
                  </a:cubicBezTo>
                  <a:cubicBezTo>
                    <a:pt x="864354" y="16843"/>
                    <a:pt x="868048" y="25760"/>
                    <a:pt x="868048" y="35057"/>
                  </a:cubicBezTo>
                  <a:lnTo>
                    <a:pt x="868048" y="449522"/>
                  </a:lnTo>
                  <a:cubicBezTo>
                    <a:pt x="868048" y="458820"/>
                    <a:pt x="864354" y="467737"/>
                    <a:pt x="857780" y="474312"/>
                  </a:cubicBezTo>
                  <a:cubicBezTo>
                    <a:pt x="851205" y="480886"/>
                    <a:pt x="842288" y="484580"/>
                    <a:pt x="832990" y="484580"/>
                  </a:cubicBezTo>
                  <a:lnTo>
                    <a:pt x="35057" y="484580"/>
                  </a:lnTo>
                  <a:cubicBezTo>
                    <a:pt x="25760" y="484580"/>
                    <a:pt x="16843" y="480886"/>
                    <a:pt x="10268" y="474312"/>
                  </a:cubicBezTo>
                  <a:cubicBezTo>
                    <a:pt x="3694" y="467737"/>
                    <a:pt x="0" y="458820"/>
                    <a:pt x="0" y="449522"/>
                  </a:cubicBezTo>
                  <a:lnTo>
                    <a:pt x="0" y="35057"/>
                  </a:lnTo>
                  <a:cubicBezTo>
                    <a:pt x="0" y="25760"/>
                    <a:pt x="3694" y="16843"/>
                    <a:pt x="10268" y="10268"/>
                  </a:cubicBezTo>
                  <a:cubicBezTo>
                    <a:pt x="16843" y="3694"/>
                    <a:pt x="25760" y="0"/>
                    <a:pt x="35057" y="0"/>
                  </a:cubicBezTo>
                  <a:close/>
                </a:path>
              </a:pathLst>
            </a:custGeom>
            <a:solidFill>
              <a:srgbClr val="F5F9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68048" cy="513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81049" y="10571775"/>
            <a:ext cx="4026242" cy="1016372"/>
            <a:chOff x="0" y="0"/>
            <a:chExt cx="1294490" cy="3267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94490" cy="326777"/>
            </a:xfrm>
            <a:custGeom>
              <a:avLst/>
              <a:gdLst/>
              <a:ahLst/>
              <a:cxnLst/>
              <a:rect r="r" b="b" t="t" l="l"/>
              <a:pathLst>
                <a:path h="326777" w="1294490">
                  <a:moveTo>
                    <a:pt x="1091290" y="0"/>
                  </a:moveTo>
                  <a:cubicBezTo>
                    <a:pt x="1203515" y="0"/>
                    <a:pt x="1294490" y="73152"/>
                    <a:pt x="1294490" y="163389"/>
                  </a:cubicBezTo>
                  <a:cubicBezTo>
                    <a:pt x="1294490" y="253626"/>
                    <a:pt x="1203515" y="326777"/>
                    <a:pt x="1091290" y="326777"/>
                  </a:cubicBezTo>
                  <a:lnTo>
                    <a:pt x="203200" y="326777"/>
                  </a:lnTo>
                  <a:cubicBezTo>
                    <a:pt x="90976" y="326777"/>
                    <a:pt x="0" y="253626"/>
                    <a:pt x="0" y="163389"/>
                  </a:cubicBezTo>
                  <a:cubicBezTo>
                    <a:pt x="0" y="731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94490" cy="364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02832" y="12047205"/>
            <a:ext cx="3982677" cy="964828"/>
            <a:chOff x="0" y="0"/>
            <a:chExt cx="1280483" cy="31020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483" cy="310205"/>
            </a:xfrm>
            <a:custGeom>
              <a:avLst/>
              <a:gdLst/>
              <a:ahLst/>
              <a:cxnLst/>
              <a:rect r="r" b="b" t="t" l="l"/>
              <a:pathLst>
                <a:path h="310205" w="1280483">
                  <a:moveTo>
                    <a:pt x="1077283" y="0"/>
                  </a:moveTo>
                  <a:cubicBezTo>
                    <a:pt x="1189508" y="0"/>
                    <a:pt x="1280483" y="69442"/>
                    <a:pt x="1280483" y="155102"/>
                  </a:cubicBezTo>
                  <a:cubicBezTo>
                    <a:pt x="1280483" y="240763"/>
                    <a:pt x="1189508" y="310205"/>
                    <a:pt x="1077283" y="310205"/>
                  </a:cubicBezTo>
                  <a:lnTo>
                    <a:pt x="203200" y="310205"/>
                  </a:lnTo>
                  <a:cubicBezTo>
                    <a:pt x="90976" y="310205"/>
                    <a:pt x="0" y="240763"/>
                    <a:pt x="0" y="155102"/>
                  </a:cubicBezTo>
                  <a:cubicBezTo>
                    <a:pt x="0" y="6944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280483" cy="348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742155" y="16407053"/>
            <a:ext cx="8813201" cy="1369372"/>
            <a:chOff x="0" y="0"/>
            <a:chExt cx="1813416" cy="2817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13416" cy="281764"/>
            </a:xfrm>
            <a:custGeom>
              <a:avLst/>
              <a:gdLst/>
              <a:ahLst/>
              <a:cxnLst/>
              <a:rect r="r" b="b" t="t" l="l"/>
              <a:pathLst>
                <a:path h="281764" w="1813416">
                  <a:moveTo>
                    <a:pt x="17157" y="0"/>
                  </a:moveTo>
                  <a:lnTo>
                    <a:pt x="1796259" y="0"/>
                  </a:lnTo>
                  <a:cubicBezTo>
                    <a:pt x="1805734" y="0"/>
                    <a:pt x="1813416" y="7682"/>
                    <a:pt x="1813416" y="17157"/>
                  </a:cubicBezTo>
                  <a:lnTo>
                    <a:pt x="1813416" y="264607"/>
                  </a:lnTo>
                  <a:cubicBezTo>
                    <a:pt x="1813416" y="269157"/>
                    <a:pt x="1811608" y="273521"/>
                    <a:pt x="1808391" y="276739"/>
                  </a:cubicBezTo>
                  <a:cubicBezTo>
                    <a:pt x="1805173" y="279956"/>
                    <a:pt x="1800809" y="281764"/>
                    <a:pt x="1796259" y="281764"/>
                  </a:cubicBezTo>
                  <a:lnTo>
                    <a:pt x="17157" y="281764"/>
                  </a:lnTo>
                  <a:cubicBezTo>
                    <a:pt x="7682" y="281764"/>
                    <a:pt x="0" y="274082"/>
                    <a:pt x="0" y="264607"/>
                  </a:cubicBezTo>
                  <a:lnTo>
                    <a:pt x="0" y="17157"/>
                  </a:lnTo>
                  <a:cubicBezTo>
                    <a:pt x="0" y="7682"/>
                    <a:pt x="7682" y="0"/>
                    <a:pt x="17157" y="0"/>
                  </a:cubicBezTo>
                  <a:close/>
                </a:path>
              </a:pathLst>
            </a:custGeom>
            <a:solidFill>
              <a:srgbClr val="15366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813416" cy="319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392702" y="1767176"/>
            <a:ext cx="656413" cy="47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b="true">
                <a:solidFill>
                  <a:srgbClr val="0055FF"/>
                </a:solidFill>
                <a:latin typeface="Inter Bold"/>
                <a:ea typeface="Inter Bold"/>
                <a:cs typeface="Inter Bold"/>
                <a:sym typeface="Inter Bold"/>
              </a:rPr>
              <a:t>VF002</a:t>
            </a:r>
          </a:p>
          <a:p>
            <a:pPr algn="l">
              <a:lnSpc>
                <a:spcPts val="1889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5819916" y="278779"/>
            <a:ext cx="4573733" cy="104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496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Digi</a:t>
            </a:r>
            <a:r>
              <a:rPr lang="en-US" sz="2496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tal Merchandising &amp; Catalogue Specialist</a:t>
            </a:r>
          </a:p>
          <a:p>
            <a:pPr algn="l">
              <a:lnSpc>
                <a:spcPts val="2743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4892979" y="1746878"/>
            <a:ext cx="511480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8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Digital M</a:t>
            </a:r>
            <a:r>
              <a:rPr lang="en-US" sz="18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erchandising &amp; Catalogue Specialist</a:t>
            </a:r>
          </a:p>
          <a:p>
            <a:pPr algn="l">
              <a:lnSpc>
                <a:spcPts val="2237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4686688" y="1000125"/>
            <a:ext cx="979509" cy="19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b="true" sz="1159" spc="347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19916" y="1002447"/>
            <a:ext cx="6970325" cy="38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Manage digital product displ</a:t>
            </a:r>
            <a:r>
              <a:rPr lang="en-US" sz="1265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ays and catalogue data across VinFast’s online retail platform</a:t>
            </a:r>
          </a:p>
          <a:p>
            <a:pPr algn="l">
              <a:lnSpc>
                <a:spcPts val="1518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4982775" y="2365629"/>
            <a:ext cx="12212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eam: 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E-Commerce Operations Team</a:t>
            </a:r>
          </a:p>
          <a:p>
            <a:pPr algn="l">
              <a:lnSpc>
                <a:spcPts val="1638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6408335" y="2365629"/>
            <a:ext cx="163901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eports to: 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Head of Digital Merchandising</a:t>
            </a:r>
          </a:p>
          <a:p>
            <a:pPr algn="l">
              <a:lnSpc>
                <a:spcPts val="1638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8247377" y="2338302"/>
            <a:ext cx="139553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Work mod</a:t>
            </a: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e: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Hybrid (Ho Chi Minh City / Remote)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42932" y="2338302"/>
            <a:ext cx="19030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Type and hours: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Full-Time, flexible hours (core hours 10:00 AM - 4:00 PM ICT)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76442" y="3739352"/>
            <a:ext cx="16562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About The Role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36350" y="4029865"/>
            <a:ext cx="849953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Ensure vehicl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 listings and accessories for models like the VF 2 are accurate and positioned to maximise online sales.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4992761" y="5212456"/>
            <a:ext cx="22024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Key responsibilities: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936350" y="5600654"/>
            <a:ext cx="3641294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aintain accurate pricing, specifications, and imagery for digital vehicle and accessory listings.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Str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ucture catalogue data in the CMS and keep product tags and compatibility attributes correct.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Co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nduct weekly audits of product detail pages to correct data discrepancies.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Co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ordinate storefront layouts and promotional campaigns for accessories and upcoming launches.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Ru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n A/B tests on product detail pages to identify effective merchandising layouts.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9508063" y="5212456"/>
            <a:ext cx="25627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Essential requirements: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46847" y="5803006"/>
            <a:ext cx="3884611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Bachelor's degree in Business, Marketing, E-Commerce, or a related field.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Minimum 2 years of experience in e-commerce catalogue management or digital merchandising.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roficiency in Content Management 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Sys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tems and Product Information Management tools.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Ability to interpret sales and engagement data.</a:t>
            </a: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Wo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rking knowledge of A/B testing methodologies.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5062644" y="9696404"/>
            <a:ext cx="20282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Preferable criteria:</a:t>
            </a:r>
          </a:p>
          <a:p>
            <a:pPr algn="l">
              <a:lnSpc>
                <a:spcPts val="2117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5029200" y="10258379"/>
            <a:ext cx="3884611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Professional working proficiency in English (IELTS 6.0 equivalent or higher).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Experience managing complex automotive product variants.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Understanding of SEO best practices for product pages.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9573088" y="9696404"/>
            <a:ext cx="21201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Performance goals: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73088" y="9963104"/>
            <a:ext cx="388461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hat success looks like in this role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65127" y="10698962"/>
            <a:ext cx="313053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60-d</a:t>
            </a: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ay outcome:</a:t>
            </a:r>
          </a:p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Achieve at least 98% data accuracy in a catalogue audit of the VF MPV 7.</a:t>
            </a:r>
          </a:p>
          <a:p>
            <a:pPr algn="l">
              <a:lnSpc>
                <a:spcPts val="1518"/>
              </a:lnSpc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9765127" y="12243869"/>
            <a:ext cx="337572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90-d</a:t>
            </a:r>
            <a:r>
              <a:rPr lang="en-US" sz="1265" b="true">
                <a:solidFill>
                  <a:srgbClr val="2346C2"/>
                </a:solidFill>
                <a:latin typeface="Inter Bold"/>
                <a:ea typeface="Inter Bold"/>
                <a:cs typeface="Inter Bold"/>
                <a:sym typeface="Inter Bold"/>
              </a:rPr>
              <a:t>ay outcome:</a:t>
            </a:r>
          </a:p>
          <a:p>
            <a:pPr algn="l">
              <a:lnSpc>
                <a:spcPts val="1518"/>
              </a:lnSpc>
            </a:pPr>
            <a:r>
              <a:rPr lang="en-US" sz="12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Raise accessory conversion rate by 12% through layout adjustments.</a:t>
            </a:r>
          </a:p>
          <a:p>
            <a:pPr algn="l">
              <a:lnSpc>
                <a:spcPts val="1518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062644" y="14075455"/>
            <a:ext cx="9721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Benefits:</a:t>
            </a:r>
          </a:p>
          <a:p>
            <a:pPr algn="l">
              <a:lnSpc>
                <a:spcPts val="211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5176442" y="14513605"/>
            <a:ext cx="358488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</a:p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Comprehensive he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lth insurance, flexible working hours, and employee discounts on eligible company products.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9508063" y="14075455"/>
            <a:ext cx="19963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0B1B4A"/>
                </a:solidFill>
                <a:latin typeface="Inter Bold"/>
                <a:ea typeface="Inter Bold"/>
                <a:cs typeface="Inter Bold"/>
                <a:sym typeface="Inter Bold"/>
              </a:rPr>
              <a:t>Equal opportunity: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08063" y="14599330"/>
            <a:ext cx="382339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Our c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ommitment to every applicant.</a:t>
            </a:r>
          </a:p>
          <a:p>
            <a:pPr algn="l">
              <a:lnSpc>
                <a:spcPts val="1758"/>
              </a:lnSpc>
            </a:pPr>
          </a:p>
          <a:p>
            <a:pPr algn="l" marL="316295" indent="-158147" lvl="1">
              <a:lnSpc>
                <a:spcPts val="1758"/>
              </a:lnSpc>
              <a:buFont typeface="Arial"/>
              <a:buChar char="•"/>
            </a:pP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Vi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nFast Digital Ret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r>
              <a:rPr lang="en-US" sz="14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l is an equal opportunity employer, considering candidates regardless of gender, age, ethnicity, religion, or disability.</a:t>
            </a:r>
          </a:p>
          <a:p>
            <a:pPr algn="l">
              <a:lnSpc>
                <a:spcPts val="1758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11946006" y="2338302"/>
            <a:ext cx="144345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6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Salary:</a:t>
            </a:r>
          </a:p>
          <a:p>
            <a:pPr algn="l">
              <a:lnSpc>
                <a:spcPts val="1638"/>
              </a:lnSpc>
            </a:pPr>
            <a:r>
              <a:rPr lang="en-US" sz="136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15,000,000 - 25,000,000 VND</a:t>
            </a:r>
          </a:p>
          <a:p>
            <a:pPr algn="l">
              <a:lnSpc>
                <a:spcPts val="1638"/>
              </a:lnSpc>
            </a:pPr>
          </a:p>
        </p:txBody>
      </p:sp>
      <p:sp>
        <p:nvSpPr>
          <p:cNvPr name="TextBox 70" id="70"/>
          <p:cNvSpPr txBox="true"/>
          <p:nvPr/>
        </p:nvSpPr>
        <p:spPr>
          <a:xfrm rot="0">
            <a:off x="4992761" y="16645178"/>
            <a:ext cx="470094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76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Applicatio</a:t>
            </a:r>
            <a:r>
              <a:rPr lang="en-US" b="true" sz="176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ns close Friday, 30 October 2026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992761" y="17035703"/>
            <a:ext cx="35848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4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4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reference VF002 on the application form.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1002874" y="16645178"/>
            <a:ext cx="2328584" cy="828675"/>
            <a:chOff x="0" y="0"/>
            <a:chExt cx="635000" cy="22597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5000" cy="225978"/>
            </a:xfrm>
            <a:custGeom>
              <a:avLst/>
              <a:gdLst/>
              <a:ahLst/>
              <a:cxnLst/>
              <a:rect r="r" b="b" t="t" l="l"/>
              <a:pathLst>
                <a:path h="225978" w="635000">
                  <a:moveTo>
                    <a:pt x="64936" y="0"/>
                  </a:moveTo>
                  <a:lnTo>
                    <a:pt x="570064" y="0"/>
                  </a:lnTo>
                  <a:cubicBezTo>
                    <a:pt x="587286" y="0"/>
                    <a:pt x="603803" y="6841"/>
                    <a:pt x="615981" y="19019"/>
                  </a:cubicBezTo>
                  <a:cubicBezTo>
                    <a:pt x="628159" y="31197"/>
                    <a:pt x="635000" y="47714"/>
                    <a:pt x="635000" y="64936"/>
                  </a:cubicBezTo>
                  <a:lnTo>
                    <a:pt x="635000" y="161042"/>
                  </a:lnTo>
                  <a:cubicBezTo>
                    <a:pt x="635000" y="178264"/>
                    <a:pt x="628159" y="194781"/>
                    <a:pt x="615981" y="206959"/>
                  </a:cubicBezTo>
                  <a:cubicBezTo>
                    <a:pt x="603803" y="219136"/>
                    <a:pt x="587286" y="225978"/>
                    <a:pt x="570064" y="225978"/>
                  </a:cubicBezTo>
                  <a:lnTo>
                    <a:pt x="64936" y="225978"/>
                  </a:lnTo>
                  <a:cubicBezTo>
                    <a:pt x="47714" y="225978"/>
                    <a:pt x="31197" y="219136"/>
                    <a:pt x="19019" y="206959"/>
                  </a:cubicBezTo>
                  <a:cubicBezTo>
                    <a:pt x="6841" y="194781"/>
                    <a:pt x="0" y="178264"/>
                    <a:pt x="0" y="161042"/>
                  </a:cubicBezTo>
                  <a:lnTo>
                    <a:pt x="0" y="64936"/>
                  </a:lnTo>
                  <a:cubicBezTo>
                    <a:pt x="0" y="47714"/>
                    <a:pt x="6841" y="31197"/>
                    <a:pt x="19019" y="19019"/>
                  </a:cubicBezTo>
                  <a:cubicBezTo>
                    <a:pt x="31197" y="6841"/>
                    <a:pt x="47714" y="0"/>
                    <a:pt x="64936" y="0"/>
                  </a:cubicBezTo>
                  <a:close/>
                </a:path>
              </a:pathLst>
            </a:custGeom>
            <a:solidFill>
              <a:srgbClr val="0B5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635000" cy="2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168172" y="16902353"/>
            <a:ext cx="204323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APPLY FOR </a:t>
            </a:r>
            <a:r>
              <a:rPr lang="en-US" b="true" sz="177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VF002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273095"/>
            <a:ext cx="9144000" cy="6828128"/>
            <a:chOff x="0" y="0"/>
            <a:chExt cx="12192000" cy="9104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9104171"/>
            </a:xfrm>
            <a:custGeom>
              <a:avLst/>
              <a:gdLst/>
              <a:ahLst/>
              <a:cxnLst/>
              <a:rect r="r" b="b" t="t" l="l"/>
              <a:pathLst>
                <a:path h="9104171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104171"/>
                  </a:lnTo>
                  <a:lnTo>
                    <a:pt x="0" y="9104171"/>
                  </a:lnTo>
                  <a:close/>
                </a:path>
              </a:pathLst>
            </a:custGeom>
            <a:solidFill>
              <a:srgbClr val="0A1F4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5273095"/>
            <a:ext cx="9144000" cy="6828128"/>
            <a:chOff x="0" y="0"/>
            <a:chExt cx="12192000" cy="9104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9104171"/>
            </a:xfrm>
            <a:custGeom>
              <a:avLst/>
              <a:gdLst/>
              <a:ahLst/>
              <a:cxnLst/>
              <a:rect r="r" b="b" t="t" l="l"/>
              <a:pathLst>
                <a:path h="9104171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104171"/>
                  </a:lnTo>
                  <a:lnTo>
                    <a:pt x="0" y="9104171"/>
                  </a:lnTo>
                  <a:close/>
                </a:path>
              </a:pathLst>
            </a:custGeom>
            <a:solidFill>
              <a:srgbClr val="FFF3E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0" y="6758995"/>
            <a:ext cx="571500" cy="571500"/>
            <a:chOff x="0" y="0"/>
            <a:chExt cx="762000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8002008"/>
            <a:ext cx="457200" cy="457200"/>
            <a:chOff x="0" y="0"/>
            <a:chExt cx="60960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9245020"/>
            <a:ext cx="457200" cy="457200"/>
            <a:chOff x="0" y="0"/>
            <a:chExt cx="6096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0" y="8137739"/>
            <a:ext cx="285750" cy="285750"/>
            <a:chOff x="0" y="0"/>
            <a:chExt cx="38100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0" y="9337889"/>
            <a:ext cx="285750" cy="285750"/>
            <a:chOff x="0" y="0"/>
            <a:chExt cx="3810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0" y="10538039"/>
            <a:ext cx="285750" cy="285750"/>
            <a:chOff x="0" y="0"/>
            <a:chExt cx="38100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21594" y="8130595"/>
            <a:ext cx="100012" cy="200025"/>
            <a:chOff x="0" y="0"/>
            <a:chExt cx="133350" cy="266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33350" cy="266700"/>
            </a:xfrm>
            <a:custGeom>
              <a:avLst/>
              <a:gdLst/>
              <a:ahLst/>
              <a:cxnLst/>
              <a:rect r="r" b="b" t="t" l="l"/>
              <a:pathLst>
                <a:path h="2667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142" t="0" r="-714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07306" y="9373608"/>
            <a:ext cx="128588" cy="200025"/>
            <a:chOff x="0" y="0"/>
            <a:chExt cx="171450" cy="266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71450" cy="266700"/>
            </a:xfrm>
            <a:custGeom>
              <a:avLst/>
              <a:gdLst/>
              <a:ahLst/>
              <a:cxnLst/>
              <a:rect r="r" b="b" t="t" l="l"/>
              <a:pathLst>
                <a:path h="2667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555" t="0" r="-5555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3000" y="6425620"/>
            <a:ext cx="9001125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 to Apply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10888083"/>
            <a:ext cx="8572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VinFast Digital Retail is an equal opportunity employer.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44250" y="6685177"/>
            <a:ext cx="4350544" cy="70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Spot Scams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58500" y="8071064"/>
            <a:ext cx="64293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No Fees:</a:t>
            </a:r>
            <a:r>
              <a:rPr lang="en-US" sz="247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Real applications never ask for money.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58500" y="9271214"/>
            <a:ext cx="64293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No Details:</a:t>
            </a:r>
            <a:r>
              <a:rPr lang="en-US" sz="247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Never share bank details or codes.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58500" y="10471364"/>
            <a:ext cx="7429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A1F4D"/>
                </a:solidFill>
                <a:latin typeface="Inter Bold"/>
                <a:ea typeface="Inter Bold"/>
                <a:cs typeface="Inter Bold"/>
                <a:sym typeface="Inter Bold"/>
              </a:rPr>
              <a:t>Verify:</a:t>
            </a:r>
            <a:r>
              <a:rPr lang="en-US" sz="2475">
                <a:solidFill>
                  <a:srgbClr val="0A1F4D"/>
                </a:solidFill>
                <a:latin typeface="Inter"/>
                <a:ea typeface="Inter"/>
                <a:cs typeface="Inter"/>
                <a:sym typeface="Inter"/>
              </a:rPr>
              <a:t> Check reference numbers match.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85950" y="7935333"/>
            <a:ext cx="49649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Note the Reference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85950" y="8421108"/>
            <a:ext cx="496490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EF4FC"/>
                </a:solidFill>
                <a:latin typeface="Inter"/>
                <a:ea typeface="Inter"/>
                <a:cs typeface="Inter"/>
                <a:sym typeface="Inter"/>
              </a:rPr>
              <a:t>Use the exact 5-character code.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85950" y="9178345"/>
            <a:ext cx="451842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Submit Before Deadline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85950" y="9664120"/>
            <a:ext cx="451842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EF4FC"/>
                </a:solidFill>
                <a:latin typeface="Inter"/>
                <a:ea typeface="Inter"/>
                <a:cs typeface="Inter"/>
                <a:sym typeface="Inter"/>
              </a:rPr>
              <a:t>Friday, 30 October 2026.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412430" y="4161226"/>
            <a:ext cx="1263780" cy="1001176"/>
          </a:xfrm>
          <a:custGeom>
            <a:avLst/>
            <a:gdLst/>
            <a:ahLst/>
            <a:cxnLst/>
            <a:rect r="r" b="b" t="t" l="l"/>
            <a:pathLst>
              <a:path h="1001176" w="1263780">
                <a:moveTo>
                  <a:pt x="0" y="0"/>
                </a:moveTo>
                <a:lnTo>
                  <a:pt x="1263780" y="0"/>
                </a:lnTo>
                <a:lnTo>
                  <a:pt x="1263780" y="1001176"/>
                </a:lnTo>
                <a:lnTo>
                  <a:pt x="0" y="1001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73270" y="4374627"/>
            <a:ext cx="1829526" cy="38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165" spc="649">
                <a:solidFill>
                  <a:srgbClr val="0B274B"/>
                </a:solidFill>
                <a:latin typeface="Poppins Bold"/>
                <a:ea typeface="Poppins Bold"/>
                <a:cs typeface="Poppins Bold"/>
                <a:sym typeface="Poppins Bold"/>
              </a:rPr>
              <a:t>VINFAST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16707" y="4465097"/>
            <a:ext cx="860532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83235" y="4465097"/>
            <a:ext cx="620414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b="true" sz="2349" spc="-47">
                <a:solidFill>
                  <a:srgbClr val="0B5FFF"/>
                </a:solidFill>
                <a:latin typeface="Nunito Bold"/>
                <a:ea typeface="Nunito Bold"/>
                <a:cs typeface="Nunito Bold"/>
                <a:sym typeface="Nunito Bold"/>
              </a:rPr>
              <a:t>Jobs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68294" y="4465097"/>
            <a:ext cx="860840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Apply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32120" y="4465097"/>
            <a:ext cx="890935" cy="38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spc="-47" b="true">
                <a:solidFill>
                  <a:srgbClr val="0B274B"/>
                </a:solidFill>
                <a:latin typeface="Nunito Bold"/>
                <a:ea typeface="Nunito Bold"/>
                <a:cs typeface="Nunito Bold"/>
                <a:sym typeface="Nunito Bold"/>
              </a:rPr>
              <a:t>About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0" y="11845732"/>
            <a:ext cx="18288000" cy="2441768"/>
          </a:xfrm>
          <a:custGeom>
            <a:avLst/>
            <a:gdLst/>
            <a:ahLst/>
            <a:cxnLst/>
            <a:rect r="r" b="b" t="t" l="l"/>
            <a:pathLst>
              <a:path h="2441768" w="18288000">
                <a:moveTo>
                  <a:pt x="0" y="0"/>
                </a:moveTo>
                <a:lnTo>
                  <a:pt x="18288000" y="0"/>
                </a:lnTo>
                <a:lnTo>
                  <a:pt x="18288000" y="2441768"/>
                </a:lnTo>
                <a:lnTo>
                  <a:pt x="0" y="24417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44066" y="12148848"/>
            <a:ext cx="1077746" cy="926188"/>
          </a:xfrm>
          <a:custGeom>
            <a:avLst/>
            <a:gdLst/>
            <a:ahLst/>
            <a:cxnLst/>
            <a:rect r="r" b="b" t="t" l="l"/>
            <a:pathLst>
              <a:path h="926188" w="1077746">
                <a:moveTo>
                  <a:pt x="0" y="0"/>
                </a:moveTo>
                <a:lnTo>
                  <a:pt x="1077746" y="0"/>
                </a:lnTo>
                <a:lnTo>
                  <a:pt x="1077746" y="926188"/>
                </a:lnTo>
                <a:lnTo>
                  <a:pt x="0" y="9261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978122" y="12148848"/>
            <a:ext cx="353635" cy="1532420"/>
          </a:xfrm>
          <a:custGeom>
            <a:avLst/>
            <a:gdLst/>
            <a:ahLst/>
            <a:cxnLst/>
            <a:rect r="r" b="b" t="t" l="l"/>
            <a:pathLst>
              <a:path h="1532420" w="353635">
                <a:moveTo>
                  <a:pt x="0" y="0"/>
                </a:moveTo>
                <a:lnTo>
                  <a:pt x="353635" y="0"/>
                </a:lnTo>
                <a:lnTo>
                  <a:pt x="35363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293039" y="12148848"/>
            <a:ext cx="370475" cy="1532420"/>
          </a:xfrm>
          <a:custGeom>
            <a:avLst/>
            <a:gdLst/>
            <a:ahLst/>
            <a:cxnLst/>
            <a:rect r="r" b="b" t="t" l="l"/>
            <a:pathLst>
              <a:path h="1532420" w="370475">
                <a:moveTo>
                  <a:pt x="0" y="0"/>
                </a:moveTo>
                <a:lnTo>
                  <a:pt x="370475" y="0"/>
                </a:lnTo>
                <a:lnTo>
                  <a:pt x="370475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668552" y="124519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385067" y="12482853"/>
            <a:ext cx="8714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Jira Project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083094" y="12451964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0" y="0"/>
                </a:lnTo>
                <a:lnTo>
                  <a:pt x="724110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668552" y="12755080"/>
            <a:ext cx="724110" cy="623072"/>
          </a:xfrm>
          <a:custGeom>
            <a:avLst/>
            <a:gdLst/>
            <a:ahLst/>
            <a:cxnLst/>
            <a:rect r="r" b="b" t="t" l="l"/>
            <a:pathLst>
              <a:path h="623072" w="724110">
                <a:moveTo>
                  <a:pt x="0" y="0"/>
                </a:moveTo>
                <a:lnTo>
                  <a:pt x="724111" y="0"/>
                </a:lnTo>
                <a:lnTo>
                  <a:pt x="724111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378569" y="12804321"/>
            <a:ext cx="1521244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GitHub Repository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790365" y="12755080"/>
            <a:ext cx="353635" cy="319956"/>
          </a:xfrm>
          <a:custGeom>
            <a:avLst/>
            <a:gdLst/>
            <a:ahLst/>
            <a:cxnLst/>
            <a:rect r="r" b="b" t="t" l="l"/>
            <a:pathLst>
              <a:path h="319956" w="353635">
                <a:moveTo>
                  <a:pt x="0" y="0"/>
                </a:moveTo>
                <a:lnTo>
                  <a:pt x="353635" y="0"/>
                </a:lnTo>
                <a:lnTo>
                  <a:pt x="353635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668552" y="13058196"/>
            <a:ext cx="724110" cy="319956"/>
          </a:xfrm>
          <a:custGeom>
            <a:avLst/>
            <a:gdLst/>
            <a:ahLst/>
            <a:cxnLst/>
            <a:rect r="r" b="b" t="t" l="l"/>
            <a:pathLst>
              <a:path h="319956" w="724110">
                <a:moveTo>
                  <a:pt x="0" y="0"/>
                </a:moveTo>
                <a:lnTo>
                  <a:pt x="724111" y="0"/>
                </a:lnTo>
                <a:lnTo>
                  <a:pt x="724111" y="319956"/>
                </a:lnTo>
                <a:lnTo>
                  <a:pt x="0" y="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235925" y="12350353"/>
            <a:ext cx="1435659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b="true" sz="1781" spc="4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VINFAST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30592" y="12661446"/>
            <a:ext cx="1968889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3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Move Forward Together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9160044" y="4889884"/>
            <a:ext cx="2266796" cy="545036"/>
          </a:xfrm>
          <a:custGeom>
            <a:avLst/>
            <a:gdLst/>
            <a:ahLst/>
            <a:cxnLst/>
            <a:rect r="r" b="b" t="t" l="l"/>
            <a:pathLst>
              <a:path h="545036" w="2266796">
                <a:moveTo>
                  <a:pt x="0" y="0"/>
                </a:moveTo>
                <a:lnTo>
                  <a:pt x="2266796" y="0"/>
                </a:lnTo>
                <a:lnTo>
                  <a:pt x="2266796" y="545036"/>
                </a:lnTo>
                <a:lnTo>
                  <a:pt x="0" y="54503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368" t="0" r="-7548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6032996" y="3894944"/>
            <a:ext cx="1254879" cy="1533741"/>
          </a:xfrm>
          <a:custGeom>
            <a:avLst/>
            <a:gdLst/>
            <a:ahLst/>
            <a:cxnLst/>
            <a:rect r="r" b="b" t="t" l="l"/>
            <a:pathLst>
              <a:path h="1533741" w="1254879">
                <a:moveTo>
                  <a:pt x="0" y="0"/>
                </a:moveTo>
                <a:lnTo>
                  <a:pt x="1254879" y="0"/>
                </a:lnTo>
                <a:lnTo>
                  <a:pt x="1254879" y="1533741"/>
                </a:lnTo>
                <a:lnTo>
                  <a:pt x="0" y="15337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DAHUWnud_Kc</dc:identifier>
  <dcterms:modified xsi:type="dcterms:W3CDTF">2011-08-01T06:04:30Z</dcterms:modified>
  <cp:revision>1</cp:revision>
  <dc:title>HOME</dc:title>
</cp:coreProperties>
</file>